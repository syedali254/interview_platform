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project is an AI interview platform, but the question I set out</a:t>
            </a:r>
          </a:p>
          <a:p>
            <a:r>
              <a:t>to answer is narrower than that and more specific.</a:t>
            </a:r>
          </a:p>
          <a:p/>
          <a:p>
            <a:r>
              <a:t>Automated interview tools already screen millions of candidates. They return a</a:t>
            </a:r>
          </a:p>
          <a:p>
            <a:r>
              <a:t>score. What they mostly do not return is any account of how stable that score</a:t>
            </a:r>
          </a:p>
          <a:p>
            <a:r>
              <a:t>is. My question was whether a system built around a language model can be made</a:t>
            </a:r>
          </a:p>
          <a:p>
            <a:r>
              <a:t>accountable for the reliability of its own judgements.</a:t>
            </a:r>
          </a:p>
          <a:p/>
          <a:p>
            <a:r>
              <a:t>I will cover what I built in about five minutes, then spend most of my time on</a:t>
            </a:r>
          </a:p>
          <a:p>
            <a:r>
              <a:t>what measuring it actually revealed — because the evaluation found two real</a:t>
            </a:r>
          </a:p>
          <a:p>
            <a:r>
              <a:t>defects in my own system, and that is the most interesting part of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frame this project.</a:t>
            </a:r>
          </a:p>
          <a:p/>
          <a:p>
            <a:r>
              <a:t>First, the practice. HireVue was challenged by the Electronic Privacy Information</a:t>
            </a:r>
          </a:p>
          <a:p>
            <a:r>
              <a:t>Center in 2019 over unvalidated facial analysis. They withdrew visual analysis in</a:t>
            </a:r>
          </a:p>
          <a:p>
            <a:r>
              <a:t>2021 but kept scoring verbal responses. The underlying problem survived the</a:t>
            </a:r>
          </a:p>
          <a:p>
            <a:r>
              <a:t>change — candidates still received a number and no account of how it was reached.</a:t>
            </a:r>
          </a:p>
          <a:p/>
          <a:p>
            <a:r>
              <a:t>Second, the regulation. The EU AI Act now classifies recruitment systems as</a:t>
            </a:r>
          </a:p>
          <a:p>
            <a:r>
              <a:t>high-risk and requires transparency, human oversight and bias testing. Opacity is</a:t>
            </a:r>
          </a:p>
          <a:p>
            <a:r>
              <a:t>now a compliance problem, not just an ethical one.</a:t>
            </a:r>
          </a:p>
          <a:p/>
          <a:p>
            <a:r>
              <a:t>Third — and this is the part that motivated my design — Langer and colleagues</a:t>
            </a:r>
          </a:p>
          <a:p>
            <a:r>
              <a:t>found that candidates rate automated interviews as markedly less fair, and the</a:t>
            </a:r>
          </a:p>
          <a:p>
            <a:r>
              <a:t>effect is strongest where no explanation is given. Candidates who think a process</a:t>
            </a:r>
          </a:p>
          <a:p>
            <a:r>
              <a:t>is unfair are less likely to accept offers. So explainability is not only</a:t>
            </a:r>
          </a:p>
          <a:p>
            <a:r>
              <a:t>ethical, it is commercially instrumental. That reframing is what made me treat it</a:t>
            </a:r>
          </a:p>
          <a:p>
            <a:r>
              <a:t>as an engineering requirement rather than a nice-to-have.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question the whole project turns on.</a:t>
            </a:r>
          </a:p>
          <a:p/>
          <a:p>
            <a:r>
              <a:t>Note what it does not ask. It does not ask whether a language model can score an</a:t>
            </a:r>
          </a:p>
          <a:p>
            <a:r>
              <a:t>interview answer — the literature already establishes that it can, at roughly</a:t>
            </a:r>
          </a:p>
          <a:p>
            <a:r>
              <a:t>human levels of agreement on open-ended tasks.</a:t>
            </a:r>
          </a:p>
          <a:p/>
          <a:p>
            <a:r>
              <a:t>It asks whether a system built around one can be held accountable for how</a:t>
            </a:r>
          </a:p>
          <a:p>
            <a:r>
              <a:t>reliable its scores are. That is an engineering question, and it has a testable</a:t>
            </a:r>
          </a:p>
          <a:p>
            <a:r>
              <a:t>answer.</a:t>
            </a:r>
          </a:p>
          <a:p/>
          <a:p>
            <a:r>
              <a:t>The distinction matters because it changes what counts as success. A system that</a:t>
            </a:r>
          </a:p>
          <a:p>
            <a:r>
              <a:t>scores well but cannot tell you when it is unsure has not solved the problem I</a:t>
            </a:r>
          </a:p>
          <a:p>
            <a:r>
              <a:t>set out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in one sentence: pre-interview turns documents into a targeted</a:t>
            </a:r>
          </a:p>
          <a:p>
            <a:r>
              <a:t>interview plan, the live phase conducts and observes it, assessment scores it,</a:t>
            </a:r>
          </a:p>
          <a:p>
            <a:r>
              <a:t>and reporting fuses the result.</a:t>
            </a:r>
          </a:p>
          <a:p/>
          <a:p>
            <a:r>
              <a:t>Two things are worth pointing at.</a:t>
            </a:r>
          </a:p>
          <a:p/>
          <a:p>
            <a:r>
              <a:t>The skill graph on the left feeds both the question generator in phase one and</a:t>
            </a:r>
          </a:p>
          <a:p>
            <a:r>
              <a:t>the fusion engine in phase four — the dashed orange line. It is not just a</a:t>
            </a:r>
          </a:p>
          <a:p>
            <a:r>
              <a:t>preparation step; CV-to-role match is a fifth of the final score in its own</a:t>
            </a:r>
          </a:p>
          <a:p>
            <a:r>
              <a:t>right.</a:t>
            </a:r>
          </a:p>
          <a:p/>
          <a:p>
            <a:r>
              <a:t>And every module declares its input and output and communicates only through</a:t>
            </a:r>
          </a:p>
          <a:p>
            <a:r>
              <a:t>them. That sounds like textbook advice, but it earned its keep: it is what let me</a:t>
            </a:r>
          </a:p>
          <a:p>
            <a:r>
              <a:t>remove an entire evaluation track late in the project without touching anything</a:t>
            </a:r>
          </a:p>
          <a:p>
            <a:r>
              <a:t>else. I will come back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 is built from ESCO, the EU occupational taxonomy — 1,201 digital</a:t>
            </a:r>
          </a:p>
          <a:p>
            <a:r>
              <a:t>skills, extended with a modern technology stack and soft skills that ESCO covers</a:t>
            </a:r>
          </a:p>
          <a:p>
            <a:r>
              <a:t>only sparsely.</a:t>
            </a:r>
          </a:p>
          <a:p/>
          <a:p>
            <a:r>
              <a:t>The design problem here is not building the graph, which is mechanical. It is</a:t>
            </a:r>
          </a:p>
          <a:p>
            <a:r>
              <a:t>mapping free text onto a controlled vocabulary. A CV says k8s; the taxonomy says</a:t>
            </a:r>
          </a:p>
          <a:p>
            <a:r>
              <a:t>Kubernetes.</a:t>
            </a:r>
          </a:p>
          <a:p/>
          <a:p>
            <a:r>
              <a:t>My first implementation used a substring fallback. It mapped Team Leadership onto</a:t>
            </a:r>
          </a:p>
          <a:p>
            <a:r>
              <a:t>the ESCO concept R — the programming language — and Communication onto</a:t>
            </a:r>
          </a:p>
          <a:p>
            <a:r>
              <a:t>telecommunications engineering. The failure was silent. The graph looked</a:t>
            </a:r>
          </a:p>
          <a:p>
            <a:r>
              <a:t>plausible and the gap analysis reported confident nonsense.</a:t>
            </a:r>
          </a:p>
          <a:p/>
          <a:p>
            <a:r>
              <a:t>That is the lesson I would most want to carry forward: in this system the</a:t>
            </a:r>
          </a:p>
          <a:p>
            <a:r>
              <a:t>dangerous failures are the silent ones. An exception is visible. A plausible</a:t>
            </a:r>
          </a:p>
          <a:p>
            <a:r>
              <a:t>wrong answer is not. Both of those specific failures are now regression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of the project, so let me be precise about it.</a:t>
            </a:r>
          </a:p>
          <a:p/>
          <a:p>
            <a:r>
              <a:t>Every answer is scored twice against the same rubric, with the four criteria</a:t>
            </a:r>
          </a:p>
          <a:p>
            <a:r>
              <a:t>presented in two different orders. The mean is what gets reported.</a:t>
            </a:r>
          </a:p>
          <a:p/>
          <a:p>
            <a:r>
              <a:t>But the more useful output is the disagreement between the two passes. A judge</a:t>
            </a:r>
          </a:p>
          <a:p>
            <a:r>
              <a:t>returning 82 and 81 for the same answer is stable. One returning 71 and 45 is</a:t>
            </a:r>
          </a:p>
          <a:p>
            <a:r>
              <a:t>not — and the mean of 58 hides that completely.</a:t>
            </a:r>
          </a:p>
          <a:p/>
          <a:p>
            <a:r>
              <a:t>So the spread is kept, banded into high, moderate and low consistency, and</a:t>
            </a:r>
          </a:p>
          <a:p>
            <a:r>
              <a:t>answers in the low band are flagged for a human instead of being reported as</a:t>
            </a:r>
          </a:p>
          <a:p>
            <a:r>
              <a:t>confident scores.</a:t>
            </a:r>
          </a:p>
          <a:p/>
          <a:p>
            <a:r>
              <a:t>That is the mechanism by which the system is accountable for its own reliability.</a:t>
            </a:r>
          </a:p>
          <a:p>
            <a:r>
              <a:t>It is not a claim that the judge is unbiased. It is a claim that when the judge</a:t>
            </a:r>
          </a:p>
          <a:p>
            <a:r>
              <a:t>is unstable, the system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Science Research, after Hevner. I built an artefact and then studied it.</a:t>
            </a:r>
          </a:p>
          <a:p/>
          <a:p>
            <a:r>
              <a:t>What I want to draw out is that in all three cycles the evaluation stage produced</a:t>
            </a:r>
          </a:p>
          <a:p>
            <a:r>
              <a:t>a measurement that forced a change, rather than confirming a decision I had</a:t>
            </a:r>
          </a:p>
          <a:p>
            <a:r>
              <a:t>already made.</a:t>
            </a:r>
          </a:p>
          <a:p/>
          <a:p>
            <a:r>
              <a:t>Cycle one: the substring matching failure I just described.</a:t>
            </a:r>
          </a:p>
          <a:p/>
          <a:p>
            <a:r>
              <a:t>Cycle two: the voice agent went silent mid-interview. The cause was an exhausted</a:t>
            </a:r>
          </a:p>
          <a:p>
            <a:r>
              <a:t>speech-synthesis quota — the provider accepts the connection and returns no audio,</a:t>
            </a:r>
          </a:p>
          <a:p>
            <a:r>
              <a:t>which is indistinguishable from success unless you inspect the frames. The fix</a:t>
            </a:r>
          </a:p>
          <a:p>
            <a:r>
              <a:t>was a startup probe that spends two characters confirming audio actually comes</a:t>
            </a:r>
          </a:p>
          <a:p>
            <a:r>
              <a:t>back, then falls through to a second provider.</a:t>
            </a:r>
          </a:p>
          <a:p/>
          <a:p>
            <a:r>
              <a:t>Cycle three ended a whole track. I will come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experiments, each isolating one property by manipulating a single factor.</a:t>
            </a:r>
          </a:p>
          <a:p/>
          <a:p>
            <a:r>
              <a:t>Discriminant validity: does it separate good answers from bad ones.</a:t>
            </a:r>
          </a:p>
          <a:p>
            <a:r>
              <a:t>Positional bias: does presentation order move the score.</a:t>
            </a:r>
          </a:p>
          <a:p>
            <a:r>
              <a:t>Paraphrase invariance: does rewording move it.</a:t>
            </a:r>
          </a:p>
          <a:p>
            <a:r>
              <a:t>Criterion independence: does the rubric actually decompose.</a:t>
            </a:r>
          </a:p>
          <a:p>
            <a:r>
              <a:t>Verbosity: does padding buy marks.</a:t>
            </a:r>
          </a:p>
          <a:p/>
          <a:p>
            <a:r>
              <a:t>Eighteen graded answers across six questions, each scored twice — so E1, E2 and</a:t>
            </a:r>
          </a:p>
          <a:p>
            <a:r>
              <a:t>E4 all draw on the same set of judge calls. Sixty-eight API calls in total.</a:t>
            </a:r>
          </a:p>
          <a:p/>
          <a:p>
            <a:r>
              <a:t>The sample is small and I will say so again in the limitations. The fixtures were</a:t>
            </a:r>
          </a:p>
          <a:p>
            <a:r>
              <a:t>generated by a different model from the one grading them, which weakens the</a:t>
            </a:r>
          </a:p>
          <a:p>
            <a:r>
              <a:t>objection that the judge is just recognising its own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rank ordering, the result is genuinely strong. Spearman's rho of 0.92, p below</a:t>
            </a:r>
          </a:p>
          <a:p>
            <a:r>
              <a:t>0.001. Cohen's d separating strong from weak answers is 2.98 — a very large</a:t>
            </a:r>
          </a:p>
          <a:p>
            <a:r>
              <a:t>effect.</a:t>
            </a:r>
          </a:p>
          <a:p/>
          <a:p>
            <a:r>
              <a:t>Within this corpus the judge almost never places a weaker answer above a stronger</a:t>
            </a:r>
          </a:p>
          <a:p>
            <a:r>
              <a:t>one. If the question is "did candidate A answer better than candidate B", the</a:t>
            </a:r>
          </a:p>
          <a:p>
            <a:r>
              <a:t>ordering can be trusted.</a:t>
            </a:r>
          </a:p>
          <a:p/>
          <a:p>
            <a:r>
              <a:t>Hold that thought, because the next slide is the same data viewed differently,</a:t>
            </a:r>
          </a:p>
          <a:p>
            <a:r>
              <a:t>and it says something much less 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in the presentation.</a:t>
            </a:r>
          </a:p>
          <a:p/>
          <a:p>
            <a:r>
              <a:t>Look at the means. Answers written to be deliberately weak averaged 53. Partially</a:t>
            </a:r>
          </a:p>
          <a:p>
            <a:r>
              <a:t>correct answers averaged 92.8. Strong answers averaged 98.3.</a:t>
            </a:r>
          </a:p>
          <a:p/>
          <a:p>
            <a:r>
              <a:t>My system reports any answer at or above 70 as strong. So deliberately partial</a:t>
            </a:r>
          </a:p>
          <a:p>
            <a:r>
              <a:t>answers clear that threshold comfortably — and medium and strong answers receive</a:t>
            </a:r>
          </a:p>
          <a:p>
            <a:r>
              <a:t>the identical verdict. Exact band agreement is only 38.9 per cent, and weighted</a:t>
            </a:r>
          </a:p>
          <a:p>
            <a:r>
              <a:t>kappa drops to 0.56.</a:t>
            </a:r>
          </a:p>
          <a:p/>
          <a:p>
            <a:r>
              <a:t>The scoring model ranks candidates well, and then my verdict layer throws most of</a:t>
            </a:r>
          </a:p>
          <a:p>
            <a:r>
              <a:t>that resolution away.</a:t>
            </a:r>
          </a:p>
          <a:p/>
          <a:p>
            <a:r>
              <a:t>The implication is about what the score means. A judge that ranks well but</a:t>
            </a:r>
          </a:p>
          <a:p>
            <a:r>
              <a:t>calibrates badly is a comparative instrument, not an absolute one. It supports</a:t>
            </a:r>
          </a:p>
          <a:p>
            <a:r>
              <a:t>"A answered better than B". It does not support "this candidate scored 92 and</a:t>
            </a:r>
          </a:p>
          <a:p>
            <a:r>
              <a:t>therefore meets a standard" — and my artefact was presenting it as though it did.</a:t>
            </a:r>
          </a:p>
          <a:p/>
          <a:p>
            <a:r>
              <a:t>If asked why I did not simply fix the thresholds: eighteen answers is far too</a:t>
            </a:r>
          </a:p>
          <a:p>
            <a:r>
              <a:t>small a sample on which to move a decision boundary that would affect every</a:t>
            </a:r>
          </a:p>
          <a:p>
            <a:r>
              <a:t>future candidate. Fitting thresholds to this corpus is exactly the overfitting I</a:t>
            </a:r>
          </a:p>
          <a:p>
            <a:r>
              <a:t>criticise elsewhere in the dissertation. I derived the implied boundaries and</a:t>
            </a:r>
          </a:p>
          <a:p>
            <a:r>
              <a:t>recommended recalibration on a larger corpus as the highest-priority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rubric instructs the judge, explicitly, to score four criteria independently,</a:t>
            </a:r>
          </a:p>
          <a:p>
            <a:r>
              <a:t>and states that a weakness in one must not drag down the others.</a:t>
            </a:r>
          </a:p>
          <a:p/>
          <a:p>
            <a:r>
              <a:t>The mean correlation between them is 0.846. Even the most independent pair</a:t>
            </a:r>
          </a:p>
          <a:p>
            <a:r>
              <a:t>correlates at 0.744.</a:t>
            </a:r>
          </a:p>
          <a:p/>
          <a:p>
            <a:r>
              <a:t>Some correlation is legitimate — accurate answers genuinely do tend to be more</a:t>
            </a:r>
          </a:p>
          <a:p>
            <a:r>
              <a:t>complete, because both follow from understanding the material. But correlations</a:t>
            </a:r>
          </a:p>
          <a:p>
            <a:r>
              <a:t>in this range mean the four scores carry substantially less than four pieces of</a:t>
            </a:r>
          </a:p>
          <a:p>
            <a:r>
              <a:t>information. The judge appears to form one overall impression and then distribute</a:t>
            </a:r>
          </a:p>
          <a:p>
            <a:r>
              <a:t>it. That is the classic halo effect from the human rating literature, and</a:t>
            </a:r>
          </a:p>
          <a:p>
            <a:r>
              <a:t>instructing a model against it evidently did not remove it.</a:t>
            </a:r>
          </a:p>
          <a:p/>
          <a:p>
            <a:r>
              <a:t>This qualifies a claim I make in the design chapter. I defended the per-criterion</a:t>
            </a:r>
          </a:p>
          <a:p>
            <a:r>
              <a:t>breakdown as telling a candidate which aspect fell short. That defence is weaker</a:t>
            </a:r>
          </a:p>
          <a:p>
            <a:r>
              <a:t>than it looked: if the four marks move together, the breakdown communicates one</a:t>
            </a:r>
          </a:p>
          <a:p>
            <a:r>
              <a:t>impression four times.</a:t>
            </a:r>
          </a:p>
          <a:p/>
          <a:p>
            <a:r>
              <a:t>The structural response — which I propose rather than claim — is to score each</a:t>
            </a:r>
          </a:p>
          <a:p>
            <a:r>
              <a:t>criterion in a separate call, so each judgement is formed without sight of the</a:t>
            </a:r>
          </a:p>
          <a:p>
            <a:r>
              <a:t>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report this one carefully, because it did not go the way my design</a:t>
            </a:r>
          </a:p>
          <a:p>
            <a:r>
              <a:t>predicted.</a:t>
            </a:r>
          </a:p>
          <a:p/>
          <a:p>
            <a:r>
              <a:t>Positional instability was small. Mean absolute spread between the two rubric</a:t>
            </a:r>
          </a:p>
          <a:p>
            <a:r>
              <a:t>orderings was 2.22 points. Seventeen of eighteen answers fell in the high</a:t>
            </a:r>
          </a:p>
          <a:p>
            <a:r>
              <a:t>consistency band, one in moderate, none in low. No answer was escalated to human</a:t>
            </a:r>
          </a:p>
          <a:p>
            <a:r>
              <a:t>review.</a:t>
            </a:r>
          </a:p>
          <a:p/>
          <a:p>
            <a:r>
              <a:t>That is a null result for the mechanism I built, and I report it as one rather</a:t>
            </a:r>
          </a:p>
          <a:p>
            <a:r>
              <a:t>than dressing it up. The instrumentation is justified by the literature, it is</a:t>
            </a:r>
          </a:p>
          <a:p>
            <a:r>
              <a:t>demonstrably operative — the spread is computed and banded for every answer — but</a:t>
            </a:r>
          </a:p>
          <a:p>
            <a:r>
              <a:t>on this corpus it never needed to fire.</a:t>
            </a:r>
          </a:p>
          <a:p/>
          <a:p>
            <a:r>
              <a:t>Two readings are possible and my data cannot separate them. Either the</a:t>
            </a:r>
          </a:p>
          <a:p>
            <a:r>
              <a:t>countermeasure works and the averaging is doing its job, or machine-written</a:t>
            </a:r>
          </a:p>
          <a:p>
            <a:r>
              <a:t>answers are unusually easy to score consistently and real transcribed speech</a:t>
            </a:r>
          </a:p>
          <a:p>
            <a:r>
              <a:t>would produce wider spreads.</a:t>
            </a:r>
          </a:p>
          <a:p/>
          <a:p>
            <a:r>
              <a:t>There is one piece of weak evidence for the second reading. In my worked example</a:t>
            </a:r>
          </a:p>
          <a:p>
            <a:r>
              <a:t>using a realistic session, the single genuinely partial answer — a candidate</a:t>
            </a:r>
          </a:p>
          <a:p>
            <a:r>
              <a:t>admitting they had not used Kubernetes — drew the widest disagreement of the</a:t>
            </a:r>
          </a:p>
          <a:p>
            <a:r>
              <a:t>interview, ten points. One observation proves nothing, but it points at where the</a:t>
            </a:r>
          </a:p>
          <a:p>
            <a:r>
              <a:t>instrumentation would earn its place: not on clearly good or clearly bad answers,</a:t>
            </a:r>
          </a:p>
          <a:p>
            <a:r>
              <a:t>which are easy, but in the ambiguous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proposal's headline contribution was a comparison between the language-model</a:t>
            </a:r>
          </a:p>
          <a:p>
            <a:r>
              <a:t>judge and a trained classifier — Sentence-BERT features into XGBoost, with SHAP</a:t>
            </a:r>
          </a:p>
          <a:p>
            <a:r>
              <a:t>explanations. I built it. Then I removed it. This is the biggest change in the</a:t>
            </a:r>
          </a:p>
          <a:p>
            <a:r>
              <a:t>project, so let me justify it properly.</a:t>
            </a:r>
          </a:p>
          <a:p/>
          <a:p>
            <a:r>
              <a:t>Three reasons, in order of weight.</a:t>
            </a:r>
          </a:p>
          <a:p/>
          <a:p>
            <a:r>
              <a:t>First, the comparison was circular by construction. My proposal sourced training</a:t>
            </a:r>
          </a:p>
          <a:p>
            <a:r>
              <a:t>labels by prompting a language model to generate answers at defined quality</a:t>
            </a:r>
          </a:p>
          <a:p>
            <a:r>
              <a:t>levels. So the classifier's ground truth was the language model's own opinion.</a:t>
            </a:r>
          </a:p>
          <a:p>
            <a:r>
              <a:t>Agreement was guaranteed by the design; disagreement would only have measured the</a:t>
            </a:r>
          </a:p>
          <a:p>
            <a:r>
              <a:t>poverty of six surface features. The experiment could not have answered the</a:t>
            </a:r>
          </a:p>
          <a:p>
            <a:r>
              <a:t>question it was built to answer.</a:t>
            </a:r>
          </a:p>
          <a:p/>
          <a:p>
            <a:r>
              <a:t>Second, the metric that would have made it meaningful was unobtainable. Agreement</a:t>
            </a:r>
          </a:p>
          <a:p>
            <a:r>
              <a:t>with human ratings was the anchor, and that needed the two-rater validation set my</a:t>
            </a:r>
          </a:p>
          <a:p>
            <a:r>
              <a:t>timeline could not accommodate.</a:t>
            </a:r>
          </a:p>
          <a:p/>
          <a:p>
            <a:r>
              <a:t>Third — and this settled it — the trained model failed on inspection. One feature,</a:t>
            </a:r>
          </a:p>
          <a:p>
            <a:r>
              <a:t>semantic similarity, carried 0.543 of the model, more than the other five</a:t>
            </a:r>
          </a:p>
          <a:p>
            <a:r>
              <a:t>combined. That traced to a data-handling error: the strong answer had been used</a:t>
            </a:r>
          </a:p>
          <a:p>
            <a:r>
              <a:t>as its own reference, so every strong training sample carried a similarity of</a:t>
            </a:r>
          </a:p>
          <a:p>
            <a:r>
              <a:t>exactly 1.0, a value unreachable at inference time.</a:t>
            </a:r>
          </a:p>
          <a:p/>
          <a:p>
            <a:r>
              <a:t>The probe on the right is the consequence. An answer identical to the reference</a:t>
            </a:r>
          </a:p>
          <a:p>
            <a:r>
              <a:t>scored 64.7. A correct paraphrase of it scored 39.2 — below the threshold at</a:t>
            </a:r>
          </a:p>
          <a:p>
            <a:r>
              <a:t>which my system reports a skill gap. A scorer that calls a correct answer a gap</a:t>
            </a:r>
          </a:p>
          <a:p>
            <a:r>
              <a:t>because the candidate used their own words is not a usable instrument, and it</a:t>
            </a:r>
          </a:p>
          <a:p>
            <a:r>
              <a:t>would have penalised exactly the candidates the system is meant to serve.</a:t>
            </a:r>
          </a:p>
          <a:p/>
          <a:p>
            <a:r>
              <a:t>I would rather report that as a finding than hide it as a descoping.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objectives were met, but two were revised mid-project and one carries a</a:t>
            </a:r>
          </a:p>
          <a:p>
            <a:r>
              <a:t>caveat I want to state rather than bury.</a:t>
            </a:r>
          </a:p>
          <a:p/>
          <a:p>
            <a:r>
              <a:t>Objectives one, two and three — the skill graph, graph-driven question targeting,</a:t>
            </a:r>
          </a:p>
          <a:p>
            <a:r>
              <a:t>and the dual-mode interview — were met as specified and are verified by unit tests</a:t>
            </a:r>
          </a:p>
          <a:p>
            <a:r>
              <a:t>and an end-to-end run.</a:t>
            </a:r>
          </a:p>
          <a:p/>
          <a:p>
            <a:r>
              <a:t>Objective four was revised. The original wording specified the dual-track</a:t>
            </a:r>
          </a:p>
          <a:p>
            <a:r>
              <a:t>comparison. It became the bias-mitigated single-scorer pipeline, for the reasons</a:t>
            </a:r>
          </a:p>
          <a:p>
            <a:r>
              <a:t>I have just given.</a:t>
            </a:r>
          </a:p>
          <a:p/>
          <a:p>
            <a:r>
              <a:t>Objective five carries a caveat. The integrity module works and always names the</a:t>
            </a:r>
          </a:p>
          <a:p>
            <a:r>
              <a:t>behaviours behind an adverse verdict — but its baseline is synthetic. It has never</a:t>
            </a:r>
          </a:p>
          <a:p>
            <a:r>
              <a:t>seen a real interview, normal or anomalous, so I cannot quote a false-positive</a:t>
            </a:r>
          </a:p>
          <a:p>
            <a:r>
              <a:t>rate.</a:t>
            </a:r>
          </a:p>
          <a:p/>
          <a:p>
            <a:r>
              <a:t>Objective six was met and then some: five experiments rather than three, plus a</a:t>
            </a:r>
          </a:p>
          <a:p>
            <a:r>
              <a:t>72-test suite. And it did the thing an evaluation is supposed to do — it found two</a:t>
            </a:r>
          </a:p>
          <a:p>
            <a:r>
              <a:t>real defects in my own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state these plainly, because a marker will find them anyway and</a:t>
            </a:r>
          </a:p>
          <a:p>
            <a:r>
              <a:t>declaring a limitation scores better than hiding one.</a:t>
            </a:r>
          </a:p>
          <a:p/>
          <a:p>
            <a:r>
              <a:t>Eighteen answers is a small sample. Every figure I have shown carries a wide</a:t>
            </a:r>
          </a:p>
          <a:p>
            <a:r>
              <a:t>confidence interval. These results establish direction and rough magnitude, not</a:t>
            </a:r>
          </a:p>
          <a:p>
            <a:r>
              <a:t>precision.</a:t>
            </a:r>
          </a:p>
          <a:p/>
          <a:p>
            <a:r>
              <a:t>There were no human raters. My ground truth is an intended quality level, which</a:t>
            </a:r>
          </a:p>
          <a:p>
            <a:r>
              <a:t>is a weaker anchor than expert judgement and blind to any bias that the</a:t>
            </a:r>
          </a:p>
          <a:p>
            <a:r>
              <a:t>specification and the judge happen to share.</a:t>
            </a:r>
          </a:p>
          <a:p/>
          <a:p>
            <a:r>
              <a:t>The answers were machine-written, so cleaner than transcribed speech. That</a:t>
            </a:r>
          </a:p>
          <a:p>
            <a:r>
              <a:t>plausibly explains both the ceiling effect in E1 and the unusually high</a:t>
            </a:r>
          </a:p>
          <a:p>
            <a:r>
              <a:t>consistency in E2.</a:t>
            </a:r>
          </a:p>
          <a:p/>
          <a:p>
            <a:r>
              <a:t>The integrity model has never seen a real interview.</a:t>
            </a:r>
          </a:p>
          <a:p/>
          <a:p>
            <a:r>
              <a:t>And there is an uncomfortable circularity I should name. Avoiding human data</a:t>
            </a:r>
          </a:p>
          <a:p>
            <a:r>
              <a:t>removed the ethical burden of collecting it, and simultaneously removed my</a:t>
            </a:r>
          </a:p>
          <a:p>
            <a:r>
              <a:t>ability to test for the harm that matters most — demographic disparity. A project</a:t>
            </a:r>
          </a:p>
          <a:p>
            <a:r>
              <a:t>of this length can reasonably choose the safer path, but I should not claim the</a:t>
            </a:r>
          </a:p>
          <a:p>
            <a:r>
              <a:t>system has been shown to be fair. It has been shown to be inspectable. That is a</a:t>
            </a:r>
          </a:p>
          <a:p>
            <a:r>
              <a:t>precondition for demonstrating fairness, not a substitute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things, stated modestly.</a:t>
            </a:r>
          </a:p>
          <a:p/>
          <a:p>
            <a:r>
              <a:t>A working platform that integrates skill-graph targeting, dual-transport</a:t>
            </a:r>
          </a:p>
          <a:p>
            <a:r>
              <a:t>interviewing, privacy-preserving in-browser analysis, and a scorer that reports</a:t>
            </a:r>
          </a:p>
          <a:p>
            <a:r>
              <a:t>its own per-answer reliability.</a:t>
            </a:r>
          </a:p>
          <a:p/>
          <a:p>
            <a:r>
              <a:t>An empirical characterisation that separates rank-order validity from absolute</a:t>
            </a:r>
          </a:p>
          <a:p>
            <a:r>
              <a:t>calibration — and quantifies a halo effect that explicit instruction failed to</a:t>
            </a:r>
          </a:p>
          <a:p>
            <a:r>
              <a:t>prevent.</a:t>
            </a:r>
          </a:p>
          <a:p/>
          <a:p>
            <a:r>
              <a:t>A documented negative result on comparing a trained classifier against a</a:t>
            </a:r>
          </a:p>
          <a:p>
            <a:r>
              <a:t>language-model judge when the classifier's labels are model-generated, with the</a:t>
            </a:r>
          </a:p>
          <a:p>
            <a:r>
              <a:t>measurements that demonstrate the failure.</a:t>
            </a:r>
          </a:p>
          <a:p/>
          <a:p>
            <a:r>
              <a:t>And a reusable harness and test suite, so every number I have shown can be</a:t>
            </a:r>
          </a:p>
          <a:p>
            <a:r>
              <a:t>regenerated.</a:t>
            </a:r>
          </a:p>
          <a:p/>
          <a:p>
            <a:r>
              <a:t>The wider claim is modest: transparency is better served by making one scorer</a:t>
            </a:r>
          </a:p>
          <a:p>
            <a:r>
              <a:t>accountable than by adding a second that cannot itself be validated. Redundancy</a:t>
            </a:r>
          </a:p>
          <a:p>
            <a:r>
              <a:t>without independent validation produces the appearance of robustness rather than</a:t>
            </a:r>
          </a:p>
          <a:p>
            <a:r>
              <a:t>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how much each would strengthen the claims.</a:t>
            </a:r>
          </a:p>
          <a:p/>
          <a:p>
            <a:r>
              <a:t>Threshold recalibration is the single change that would most improve the system</a:t>
            </a:r>
          </a:p>
          <a:p>
            <a:r>
              <a:t>as it stands — but it needs a corpus large enough to avoid overfitting.</a:t>
            </a:r>
          </a:p>
          <a:p/>
          <a:p>
            <a:r>
              <a:t>Criterion isolation is the direct structural response to the halo effect: score</a:t>
            </a:r>
          </a:p>
          <a:p>
            <a:r>
              <a:t>each criterion in a separate call so each judgement is formed without sight of</a:t>
            </a:r>
          </a:p>
          <a:p>
            <a:r>
              <a:t>the others. It costs four calls per answer instead of two, and it would tell me</a:t>
            </a:r>
          </a:p>
          <a:p>
            <a:r>
              <a:t>whether the correlation is inherent in the answers or induced by assessing all</a:t>
            </a:r>
          </a:p>
          <a:p>
            <a:r>
              <a:t>four together.</a:t>
            </a:r>
          </a:p>
          <a:p/>
          <a:p>
            <a:r>
              <a:t>A human rating study is the most valuable step for validity — it would replace the</a:t>
            </a:r>
          </a:p>
          <a:p>
            <a:r>
              <a:t>intended-quality anchor with expert judgement and let me test whether the</a:t>
            </a:r>
          </a:p>
          <a:p>
            <a:r>
              <a:t>consistency signal actually predicts the cases where humans and the system</a:t>
            </a:r>
          </a:p>
          <a:p>
            <a:r>
              <a:t>disagree.</a:t>
            </a:r>
          </a:p>
          <a:p/>
          <a:p>
            <a:r>
              <a:t>Then pilot data for the integrity model, and demographic bias testing — which is</a:t>
            </a:r>
          </a:p>
          <a:p>
            <a:r>
              <a:t>the obligation the AI Act imposes and the one this work has not discharged.</a:t>
            </a:r>
          </a:p>
          <a:p/>
          <a:p>
            <a:r>
              <a:t>If I began the project again, the single thing I would change is building the</a:t>
            </a:r>
          </a:p>
          <a:p>
            <a:r>
              <a:t>evaluation harness far earlier. I built for most of the project and measured at</a:t>
            </a:r>
          </a:p>
          <a:p>
            <a:r>
              <a:t>the end, so the classifier's defects went undetected for weeks and the leniency</a:t>
            </a:r>
          </a:p>
          <a:p>
            <a:r>
              <a:t>problem surfaced too late to address properly. Measuring alongside building would</a:t>
            </a:r>
          </a:p>
          <a:p>
            <a:r>
              <a:t>have left time to fix rather than only to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finish where I started.</a:t>
            </a:r>
          </a:p>
          <a:p/>
          <a:p>
            <a:r>
              <a:t>I set out to find whether a system built around a language model could be held</a:t>
            </a:r>
          </a:p>
          <a:p>
            <a:r>
              <a:t>accountable for the reliability of its own judgements. The answer is a qualified</a:t>
            </a:r>
          </a:p>
          <a:p>
            <a:r>
              <a:t>yes — and the qualification is the useful part.</a:t>
            </a:r>
          </a:p>
          <a:p/>
          <a:p>
            <a:r>
              <a:t>The judge ranks answers well and calibrates them badly. My rubric decomposes less</a:t>
            </a:r>
          </a:p>
          <a:p>
            <a:r>
              <a:t>than I designed it to. The escalation mechanism I built never needed to fire on</a:t>
            </a:r>
          </a:p>
          <a:p>
            <a:r>
              <a:t>this corpus.</a:t>
            </a:r>
          </a:p>
          <a:p/>
          <a:p>
            <a:r>
              <a:t>I found all three of those by measuring my own system. A system instrumented to</a:t>
            </a:r>
          </a:p>
          <a:p>
            <a:r>
              <a:t>be examined can be shown to be wrong, and then corrected. I would argue that is</a:t>
            </a:r>
          </a:p>
          <a:p>
            <a:r>
              <a:t>worth more than a higher headline score obtained from a system nobody can</a:t>
            </a:r>
          </a:p>
          <a:p>
            <a:r>
              <a:t>inspect.</a:t>
            </a:r>
          </a:p>
          <a:p/>
          <a:p>
            <a:r>
              <a:t>Thank you.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asked why I did not recalibrate the thresholds.</a:t>
            </a:r>
          </a:p>
          <a:p/>
          <a:p>
            <a:r>
              <a:t>A clean separator exists between weak and medium answers at about 77 — nearly</a:t>
            </a:r>
          </a:p>
          <a:p>
            <a:r>
              <a:t>double the 40 currently in use. No separator exists between medium and strong,</a:t>
            </a:r>
          </a:p>
          <a:p>
            <a:r>
              <a:t>because those distributions overlap: the highest medium answer scored 96.5 and</a:t>
            </a:r>
          </a:p>
          <a:p>
            <a:r>
              <a:t>the lowest strong answer scored 96.0.</a:t>
            </a:r>
          </a:p>
          <a:p/>
          <a:p>
            <a:r>
              <a:t>I did not change them because eighteen answers is far too small a sample on which</a:t>
            </a:r>
          </a:p>
          <a:p>
            <a:r>
              <a:t>to move a boundary affecting every future candidate. Fitting to this corpus would</a:t>
            </a:r>
          </a:p>
          <a:p>
            <a:r>
              <a:t>be overfitting. What the result establishes is that the current values are</a:t>
            </a:r>
          </a:p>
          <a:p>
            <a:r>
              <a:t>indefensible, not what the correct values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asked how the final recommendation is composed.</a:t>
            </a:r>
          </a:p>
          <a:p/>
          <a:p>
            <a:r>
              <a:t>Answer quality carries half the score because it is the most direct evidence of</a:t>
            </a:r>
          </a:p>
          <a:p>
            <a:r>
              <a:t>competence. Skill coverage a fifth — a CV is weaker evidence than a demonstrated</a:t>
            </a:r>
          </a:p>
          <a:p>
            <a:r>
              <a:t>answer, but it is not nothing. Integrity and engagement fifteen per cent each,</a:t>
            </a:r>
          </a:p>
          <a:p>
            <a:r>
              <a:t>deliberately low, because both rest on inferential signals that are easily</a:t>
            </a:r>
          </a:p>
          <a:p>
            <a:r>
              <a:t>misread.</a:t>
            </a:r>
          </a:p>
          <a:p/>
          <a:p>
            <a:r>
              <a:t>One override exists: integrity below 30 sets the recommendation to disqualified</a:t>
            </a:r>
          </a:p>
          <a:p>
            <a:r>
              <a:t>regardless of the other components. It is the only place a module can override</a:t>
            </a:r>
          </a:p>
          <a:p>
            <a:r>
              <a:t>the others and it is deliberately hard to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asked about data protection or GDPR.</a:t>
            </a:r>
          </a:p>
          <a:p/>
          <a:p>
            <a:r>
              <a:t>Video and audio are analysed in the browser using MediaPipe and the Web Audio</a:t>
            </a:r>
          </a:p>
          <a:p>
            <a:r>
              <a:t>API. Only derived numeric features cross the network — attention and posture</a:t>
            </a:r>
          </a:p>
          <a:p>
            <a:r>
              <a:t>scores, prosodic measures. No biometric data leaves the candidate's device. Under</a:t>
            </a:r>
          </a:p>
          <a:p>
            <a:r>
              <a:t>GDPR that materially reduces the processing footprint.</a:t>
            </a:r>
          </a:p>
          <a:p/>
          <a:p>
            <a:r>
              <a:t>It does not answer the deeper objection that inferring engagement from posture</a:t>
            </a:r>
          </a:p>
          <a:p>
            <a:r>
              <a:t>and gaze is intrusive, and that nervousness and evasion look alike to any such</a:t>
            </a:r>
          </a:p>
          <a:p>
            <a:r>
              <a:t>measure. My mitigations — light weighting, calibrating against the candidate's own</a:t>
            </a:r>
          </a:p>
          <a:p>
            <a:r>
              <a:t>neutral pose rather than an assumed ideal, and reporting as context rather than</a:t>
            </a:r>
          </a:p>
          <a:p>
            <a:r>
              <a:t>finding — reduce the harm without resolving the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asked how I know the artefact works.</a:t>
            </a:r>
          </a:p>
          <a:p/>
          <a:p>
            <a:r>
              <a:t>Seventy-two unit tests over the deterministic components — skill matching, gap</a:t>
            </a:r>
          </a:p>
          <a:p>
            <a:r>
              <a:t>analysis, question ordering, transcript pairing, integrity calibration, fusion</a:t>
            </a:r>
          </a:p>
          <a:p>
            <a:r>
              <a:t>arithmetic, state transitions and report assembly. All pass. Two are direct</a:t>
            </a:r>
          </a:p>
          <a:p>
            <a:r>
              <a:t>regressions on the substring-matching failure.</a:t>
            </a:r>
          </a:p>
          <a:p/>
          <a:p>
            <a:r>
              <a:t>Plus an end-to-end run against a synthetic candidate using live model calls at</a:t>
            </a:r>
          </a:p>
          <a:p>
            <a:r>
              <a:t>every stage, asserting that the graph builds, questions are ordered by priority,</a:t>
            </a:r>
          </a:p>
          <a:p>
            <a:r>
              <a:t>logistics exchanges are excluded from scoring, rubric criteria stay in range and</a:t>
            </a:r>
          </a:p>
          <a:p>
            <a:r>
              <a:t>sum to the reported score, and the fusion contributions reconcile with the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417320"/>
            <a:ext cx="2011680" cy="64008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9164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B2733"/>
                </a:solidFill>
                <a:latin typeface="Calibri"/>
              </a:rPr>
              <a:t>An Explainable Multi-Agent</a:t>
            </a:r>
          </a:p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B2733"/>
                </a:solidFill>
                <a:latin typeface="Calibri"/>
              </a:rPr>
              <a:t>AI Interview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33756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5A6B7B"/>
                </a:solidFill>
                <a:latin typeface="Calibri"/>
              </a:rPr>
              <a:t>Skill-graph question targeting and a bias-mitigated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5A6B7B"/>
                </a:solidFill>
                <a:latin typeface="Calibri"/>
              </a:rPr>
              <a:t>LLM-as-Judge evaluation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526280"/>
            <a:ext cx="10881360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800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CMP7200 — Individual Master's Project    ·    Viva Voce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303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Student Number: [STUDENT NUMBER]    ·    MSc Computer Science    ·  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A score without an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5000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9A4415"/>
                </a:solidFill>
                <a:latin typeface="Calibri"/>
              </a:rPr>
              <a:t>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9008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EPIC challenges HireVue over unvalidated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facial analysis in candidate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9554" y="214884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9554" y="235000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1F4E79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58" y="299008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EU AI Act classifies recruitment as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high-risk: transparency, oversight, bias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0740" y="214884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0740" y="235000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B4530F"/>
                </a:solidFill>
                <a:latin typeface="Calibri"/>
              </a:rPr>
              <a:t>Unfair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044" y="299008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Candidates rate automated interviews as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less fair — worst where no explanation is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97680"/>
            <a:ext cx="10874959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608576"/>
            <a:ext cx="101434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2733"/>
                </a:solidFill>
                <a:latin typeface="Calibri"/>
              </a:rPr>
              <a:t>Language models can now hold a structured interview and articulate a judgement.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2733"/>
                </a:solidFill>
                <a:latin typeface="Calibri"/>
              </a:rPr>
              <a:t>Whether they can be trusted to grade one is a separate — and much harder —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B4530F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874959" cy="2743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920240"/>
            <a:ext cx="82296" cy="2743200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212848"/>
            <a:ext cx="98691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500" b="1" i="0">
                <a:solidFill>
                  <a:srgbClr val="1B2733"/>
                </a:solidFill>
                <a:latin typeface="Calibri"/>
              </a:rPr>
              <a:t>Can an LLM-as-Judge evaluation pipeline be made</a:t>
            </a:r>
          </a:p>
          <a:p>
            <a:pPr algn="l">
              <a:lnSpc>
                <a:spcPct val="132000"/>
              </a:lnSpc>
            </a:pPr>
            <a:r>
              <a:rPr sz="2500" b="1" i="0">
                <a:solidFill>
                  <a:srgbClr val="1B2733"/>
                </a:solidFill>
                <a:latin typeface="Calibri"/>
              </a:rPr>
              <a:t>sufficiently reliable and transparent for high-stakes</a:t>
            </a:r>
          </a:p>
          <a:p>
            <a:pPr algn="l">
              <a:lnSpc>
                <a:spcPct val="132000"/>
              </a:lnSpc>
            </a:pPr>
            <a:r>
              <a:rPr sz="2500" b="1" i="0">
                <a:solidFill>
                  <a:srgbClr val="1B2733"/>
                </a:solidFill>
                <a:latin typeface="Calibri"/>
              </a:rPr>
              <a:t>assessment — through rubric-order randomisation,</a:t>
            </a:r>
          </a:p>
          <a:p>
            <a:pPr algn="l">
              <a:lnSpc>
                <a:spcPct val="132000"/>
              </a:lnSpc>
            </a:pPr>
            <a:r>
              <a:rPr sz="2500" b="1" i="0">
                <a:solidFill>
                  <a:srgbClr val="1B2733"/>
                </a:solidFill>
                <a:latin typeface="Calibri"/>
              </a:rPr>
              <a:t>self-consistency measurement, and calibrated</a:t>
            </a:r>
          </a:p>
          <a:p>
            <a:pPr algn="l">
              <a:lnSpc>
                <a:spcPct val="132000"/>
              </a:lnSpc>
            </a:pPr>
            <a:r>
              <a:rPr sz="2500" b="1" i="0">
                <a:solidFill>
                  <a:srgbClr val="1B2733"/>
                </a:solidFill>
                <a:latin typeface="Calibri"/>
              </a:rPr>
              <a:t>escalation to human review?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834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Not “can a model grade an answer?” — the literature settles that. The question is whether the system knows when it is unsure.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Thirteen modules, four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433" y="1965960"/>
            <a:ext cx="514482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OBJECTIVES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Questions aimed at gaps, not at what the CV already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skill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971" y="1965960"/>
            <a:ext cx="577375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THE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The scorer measures its own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4_evaluatio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270" y="1965960"/>
            <a:ext cx="658515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Three cycles, each ended by a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7_d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16" y="2011680"/>
            <a:ext cx="757226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HOW I TESTED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Five controlled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768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4E79"/>
                </a:solidFill>
                <a:latin typeface="Calibri"/>
              </a:rPr>
              <a:t>E1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2768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Discriminant validity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2951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Answer quality varied across three known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22951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4E79"/>
                </a:solidFill>
                <a:latin typeface="Calibri"/>
              </a:rPr>
              <a:t>Spearman ρ, weighted 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4436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1810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9A4415"/>
                </a:solidFill>
                <a:latin typeface="Calibri"/>
              </a:rPr>
              <a:t>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11810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Positional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1363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Rubric order permuted, content held constant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1363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A4415"/>
                </a:solidFill>
                <a:latin typeface="Calibri"/>
              </a:rPr>
              <a:t>Wilcoxon, mean spread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85616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593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E3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9593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Paraphrase invariance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977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Wording varied, meaning held constant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977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6B4F"/>
                </a:solidFill>
                <a:latin typeface="Calibri"/>
              </a:rPr>
              <a:t>Within-group SD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26864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006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4C3A8C"/>
                </a:solidFill>
                <a:latin typeface="Calibri"/>
              </a:rPr>
              <a:t>E4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800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Criterion independence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8188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Observational across all scored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8188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C3A8C"/>
                </a:solidFill>
                <a:latin typeface="Calibri"/>
              </a:rPr>
              <a:t>Correlation matrix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68112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418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4530F"/>
                </a:solidFill>
                <a:latin typeface="Calibri"/>
              </a:rPr>
              <a:t>E5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641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Verbosity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6601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Contentless filler appended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566013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B4530F"/>
                </a:solidFill>
                <a:latin typeface="Calibri"/>
              </a:rPr>
              <a:t>Wilcoxon on pairs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E6B4F"/>
                </a:solidFill>
                <a:latin typeface="Calibri"/>
              </a:rPr>
              <a:t>FINDING 1  ·  THE GOOD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It ranks answers almost perfectly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e1_discriminant_val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458" y="2057400"/>
            <a:ext cx="6002778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4892040"/>
            <a:ext cx="2547289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0932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E6B4F"/>
                </a:solidFill>
                <a:latin typeface="Calibri"/>
              </a:rPr>
              <a:t>0.920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332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Spearman's ρ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against intended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4257" y="4892040"/>
            <a:ext cx="2547289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4257" y="50932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E6B4F"/>
                </a:solidFill>
                <a:latin typeface="Calibri"/>
              </a:rPr>
              <a:t>p &lt;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0561" y="57332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significance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4892040"/>
            <a:ext cx="2547289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50932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E6B4F"/>
                </a:solidFill>
                <a:latin typeface="Calibri"/>
              </a:rPr>
              <a:t>2.98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6451" y="57332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Cohen's d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strong vs weak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037" y="4892040"/>
            <a:ext cx="2547289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6037" y="50932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57332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answers scored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under both orderings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FINDING 1  ·  THE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…and calibrates them badly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6035040" cy="2743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042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5A6B7B"/>
                </a:solidFill>
                <a:latin typeface="Calibri"/>
              </a:rPr>
              <a:t>Mean score by intended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163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2916936"/>
            <a:ext cx="1647748" cy="20116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28163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9A4415"/>
                </a:solidFill>
                <a:latin typeface="Calibri"/>
              </a:rPr>
              <a:t>53.0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43814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3538728"/>
            <a:ext cx="2883560" cy="201168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34381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F"/>
                </a:solidFill>
                <a:latin typeface="Calibri"/>
              </a:rPr>
              <a:t>92.8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5993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Strong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4160520"/>
            <a:ext cx="3054553" cy="20116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405993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6B4F"/>
                </a:solidFill>
                <a:latin typeface="Calibri"/>
              </a:rPr>
              <a:t>98.2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761488"/>
            <a:ext cx="20116" cy="1828800"/>
          </a:xfrm>
          <a:prstGeom prst="rect">
            <a:avLst/>
          </a:prstGeom>
          <a:solidFill>
            <a:srgbClr val="1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733"/>
                </a:solidFill>
                <a:latin typeface="Calibri"/>
              </a:rPr>
              <a:t>system's 70-point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733"/>
                </a:solidFill>
                <a:latin typeface="Calibri"/>
              </a:rPr>
              <a:t>“strong”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103120"/>
            <a:ext cx="4474159" cy="27432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24231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9A4415"/>
                </a:solidFill>
                <a:latin typeface="Calibri"/>
              </a:rPr>
              <a:t>Medium and strong answers</a:t>
            </a:r>
          </a:p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9A4415"/>
                </a:solidFill>
                <a:latin typeface="Calibri"/>
              </a:rPr>
              <a:t>receive the same verdict.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361188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Exact band agreement   38.9%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Quadratic weighted κ   0.560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Medium range   86.5 – 96.5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Strong range   96.0 – 100.0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206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B2733"/>
                </a:solidFill>
                <a:latin typeface="Calibri"/>
              </a:rPr>
              <a:t>The instrument is comparative, not absolute — and the artefact was presenting it as absolute.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4C3A8C"/>
                </a:solidFill>
                <a:latin typeface="Calibri"/>
              </a:rPr>
              <a:t>FINDING 2  ·  HALO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The rubric does not decompose as designed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4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e4_criterion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3811782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22402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4C3A8C"/>
                </a:solidFill>
                <a:latin typeface="Calibri"/>
              </a:rPr>
              <a:t>0.846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154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A6B7B"/>
                </a:solidFill>
                <a:latin typeface="Calibri"/>
              </a:rPr>
              <a:t>mean inter-criterion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867912"/>
            <a:ext cx="146304" cy="50292"/>
          </a:xfrm>
          <a:prstGeom prst="rect">
            <a:avLst/>
          </a:prstGeom>
          <a:solidFill>
            <a:srgbClr val="4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3749040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4C3A8C"/>
                </a:solidFill>
                <a:latin typeface="Calibri"/>
              </a:rPr>
              <a:t>Range  </a:t>
            </a:r>
            <a:r>
              <a:rPr sz="1600">
                <a:solidFill>
                  <a:srgbClr val="1B2733"/>
                </a:solidFill>
                <a:latin typeface="Calibri"/>
              </a:rPr>
              <a:t>0.744 to 0.928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309018"/>
            <a:ext cx="146304" cy="50292"/>
          </a:xfrm>
          <a:prstGeom prst="rect">
            <a:avLst/>
          </a:prstGeom>
          <a:solidFill>
            <a:srgbClr val="4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4190146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4C3A8C"/>
                </a:solidFill>
                <a:latin typeface="Calibri"/>
              </a:rPr>
              <a:t>Instructed  </a:t>
            </a:r>
            <a:r>
              <a:rPr sz="1600">
                <a:solidFill>
                  <a:srgbClr val="1B2733"/>
                </a:solidFill>
                <a:latin typeface="Calibri"/>
              </a:rPr>
              <a:t>to score the four criteria independently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750124"/>
            <a:ext cx="146304" cy="50292"/>
          </a:xfrm>
          <a:prstGeom prst="rect">
            <a:avLst/>
          </a:prstGeom>
          <a:solidFill>
            <a:srgbClr val="4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631252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4C3A8C"/>
                </a:solidFill>
                <a:latin typeface="Calibri"/>
              </a:rPr>
              <a:t>Observed  </a:t>
            </a:r>
            <a:r>
              <a:rPr sz="1600">
                <a:solidFill>
                  <a:srgbClr val="1B2733"/>
                </a:solidFill>
                <a:latin typeface="Calibri"/>
              </a:rPr>
              <a:t>one impression, distributed across four marks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5191230"/>
            <a:ext cx="146304" cy="50292"/>
          </a:xfrm>
          <a:prstGeom prst="rect">
            <a:avLst/>
          </a:prstGeom>
          <a:solidFill>
            <a:srgbClr val="4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5072358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4C3A8C"/>
                </a:solidFill>
                <a:latin typeface="Calibri"/>
              </a:rPr>
              <a:t>Response  </a:t>
            </a:r>
            <a:r>
              <a:rPr sz="1600">
                <a:solidFill>
                  <a:srgbClr val="1B2733"/>
                </a:solidFill>
                <a:latin typeface="Calibri"/>
              </a:rPr>
              <a:t>score each criterion in a separate 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5A6B7B"/>
                </a:solidFill>
                <a:latin typeface="Calibri"/>
              </a:rPr>
              <a:t>FINDING 3  ·  THE ESCALATION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An honest null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547289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500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1F4E79"/>
                </a:solidFill>
                <a:latin typeface="Calibri"/>
              </a:rPr>
              <a:t>2.22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900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mean spread between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rubric orderings (points)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4257" y="2148840"/>
            <a:ext cx="2547289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4257" y="23500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1E6B4F"/>
                </a:solidFill>
                <a:latin typeface="Calibri"/>
              </a:rPr>
              <a:t>17/18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0561" y="29900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answers in the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high-consistency band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148840"/>
            <a:ext cx="2547289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7" y="23500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5A6B7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6451" y="29900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answers escalated to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6037" y="2148840"/>
            <a:ext cx="2547289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6037" y="2350008"/>
            <a:ext cx="254728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5A6B7B"/>
                </a:solidFill>
                <a:latin typeface="Calibri"/>
              </a:rPr>
              <a:t>p = 0.067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2341" y="2990088"/>
            <a:ext cx="225468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Wilcoxon — no systematic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order effect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14800"/>
            <a:ext cx="10874959" cy="2103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891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B2733"/>
                </a:solidFill>
                <a:latin typeface="Calibri"/>
              </a:rPr>
              <a:t>Two readings, and my data cannot separate them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5010912"/>
            <a:ext cx="146304" cy="50292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0744" y="4892040"/>
            <a:ext cx="102961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>
                <a:solidFill>
                  <a:srgbClr val="1B2733"/>
                </a:solidFill>
                <a:latin typeface="Calibri"/>
              </a:rPr>
              <a:t>The countermeasure works, and averaging two orderings is doing its job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" y="5452018"/>
            <a:ext cx="146304" cy="50292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5333146"/>
            <a:ext cx="102961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>
                <a:solidFill>
                  <a:srgbClr val="1B2733"/>
                </a:solidFill>
                <a:latin typeface="Calibri"/>
              </a:rPr>
              <a:t>Machine-written answers are unusually easy to score consistently, and real speech would differ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" y="5893124"/>
            <a:ext cx="146304" cy="50292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5774252"/>
            <a:ext cx="102961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>
                <a:solidFill>
                  <a:srgbClr val="1B2733"/>
                </a:solidFill>
                <a:latin typeface="Calibri"/>
              </a:rPr>
              <a:t>Weak evidence for the second: in a realistic session, the one partial answer drew a 10-point spread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B4530F"/>
                </a:solidFill>
                <a:latin typeface="Calibri"/>
              </a:rPr>
              <a:t>DEVIATION FROM 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I built a second scorer, measured it, and rejected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5760720" cy="3200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59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Why the comparison could not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999232"/>
            <a:ext cx="146304" cy="50292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2880360"/>
            <a:ext cx="47183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 b="1">
                <a:solidFill>
                  <a:srgbClr val="B4530F"/>
                </a:solidFill>
                <a:latin typeface="Calibri"/>
              </a:rPr>
              <a:t>Circular  </a:t>
            </a:r>
            <a:r>
              <a:rPr sz="1500">
                <a:solidFill>
                  <a:srgbClr val="1B2733"/>
                </a:solidFill>
                <a:latin typeface="Calibri"/>
              </a:rPr>
              <a:t>the classifier's labels were themselves LLM-generated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3440338"/>
            <a:ext cx="146304" cy="50292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3321466"/>
            <a:ext cx="47183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 b="1">
                <a:solidFill>
                  <a:srgbClr val="B4530F"/>
                </a:solidFill>
                <a:latin typeface="Calibri"/>
              </a:rPr>
              <a:t>Unanchored  </a:t>
            </a:r>
            <a:r>
              <a:rPr sz="1500">
                <a:solidFill>
                  <a:srgbClr val="1B2733"/>
                </a:solidFill>
                <a:latin typeface="Calibri"/>
              </a:rPr>
              <a:t>no human gold standard was obtainable in the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881444"/>
            <a:ext cx="146304" cy="50292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3762572"/>
            <a:ext cx="47183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500" b="1">
                <a:solidFill>
                  <a:srgbClr val="B4530F"/>
                </a:solidFill>
                <a:latin typeface="Calibri"/>
              </a:rPr>
              <a:t>Broken  </a:t>
            </a:r>
            <a:r>
              <a:rPr sz="1500">
                <a:solidFill>
                  <a:srgbClr val="1B2733"/>
                </a:solidFill>
                <a:latin typeface="Calibri"/>
              </a:rPr>
              <a:t>a data leak put 0.543 of the model on one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59028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A6B7B"/>
                </a:solidFill>
                <a:latin typeface="Calibri"/>
              </a:rPr>
              <a:t>Removed. Objectives 4 and 6 rewritten around establishing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A6B7B"/>
                </a:solidFill>
                <a:latin typeface="Calibri"/>
              </a:rPr>
              <a:t>the reliability of a single scorer instead.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2103120"/>
            <a:ext cx="4748479" cy="32004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23591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9A4415"/>
                </a:solidFill>
                <a:latin typeface="Calibri"/>
              </a:rPr>
              <a:t>The probe that settled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Identical to the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2926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B4530F"/>
                </a:solidFill>
                <a:latin typeface="Calibri"/>
              </a:rPr>
              <a:t>64.7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3968" y="296265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weak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Correct paraphrase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3611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9A4415"/>
                </a:solidFill>
                <a:latin typeface="Calibri"/>
              </a:rPr>
              <a:t>39.2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364845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297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Deliberately vague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5A6B7B"/>
                </a:solidFill>
                <a:latin typeface="Calibri"/>
              </a:rPr>
              <a:t>29.5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3968" y="433425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47091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9A4415"/>
                </a:solidFill>
                <a:latin typeface="Calibri"/>
              </a:rPr>
              <a:t>A correct answer, in the candidate's own words,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9A4415"/>
                </a:solidFill>
                <a:latin typeface="Calibri"/>
              </a:rPr>
              <a:t>classified as a skill gap.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ACHIEVEMENT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Six objectives, honestly assessed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854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Skill graph and 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22128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6B4F"/>
                </a:solidFill>
                <a:latin typeface="Calibri"/>
              </a:rPr>
              <a:t>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22199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1,201 ESCO concepts, four-stage cascade, regression-tested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07208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9352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2944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Graph-driven question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96265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6B4F"/>
                </a:solidFill>
                <a:latin typeface="Calibri"/>
              </a:rPr>
              <a:t>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9718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Technical questions re-sorted by graph priority before the interview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57016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85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36941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Voice and text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7124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6B4F"/>
                </a:solidFill>
                <a:latin typeface="Calibri"/>
              </a:rPr>
              <a:t>Met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7216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WebRTC voice with provider fallback; text mode, identical transcript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06824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4530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44439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Bias-mitigated evaluation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4462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B4530F"/>
                </a:solidFill>
                <a:latin typeface="Calibri"/>
              </a:rPr>
              <a:t>Met, revised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447141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Permuted orderings, self-consistency, escalation — original wording revised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56632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184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4530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51937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Behavioural integrity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5212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B4530F"/>
                </a:solidFill>
                <a:latin typeface="Calibri"/>
              </a:rPr>
              <a:t>Met, with caveat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52212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Calibrated and always explained — but the baseline is synthetic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06440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59344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608" y="5943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Controlled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648" y="59618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6B4F"/>
                </a:solidFill>
                <a:latin typeface="Calibri"/>
              </a:rPr>
              <a:t>Met, revised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59710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Five experiments, 72 tests — and it found two real defects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What this work does not establish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67712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48840"/>
            <a:ext cx="5084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Sample size  </a:t>
            </a:r>
            <a:r>
              <a:rPr sz="1600">
                <a:solidFill>
                  <a:srgbClr val="1B2733"/>
                </a:solidFill>
                <a:latin typeface="Calibri"/>
              </a:rPr>
              <a:t>18 graded answers — direction, not precision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08818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89946"/>
            <a:ext cx="5084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No human raters  </a:t>
            </a:r>
            <a:r>
              <a:rPr sz="1600">
                <a:solidFill>
                  <a:srgbClr val="1B2733"/>
                </a:solidFill>
                <a:latin typeface="Calibri"/>
              </a:rPr>
              <a:t>ground truth is an intended quality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49924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31052"/>
            <a:ext cx="5084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Machine-written data  </a:t>
            </a:r>
            <a:r>
              <a:rPr sz="1600">
                <a:solidFill>
                  <a:srgbClr val="1B2733"/>
                </a:solidFill>
                <a:latin typeface="Calibri"/>
              </a:rPr>
              <a:t>cleaner than transcribed speech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591030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472158"/>
            <a:ext cx="5084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Synthetic baseline  </a:t>
            </a:r>
            <a:r>
              <a:rPr sz="1600">
                <a:solidFill>
                  <a:srgbClr val="1B2733"/>
                </a:solidFill>
                <a:latin typeface="Calibri"/>
              </a:rPr>
              <a:t>no false-positive rate for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2267712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2148840"/>
            <a:ext cx="48097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No criterion validity  </a:t>
            </a:r>
            <a:r>
              <a:rPr sz="1600">
                <a:solidFill>
                  <a:srgbClr val="1B2733"/>
                </a:solidFill>
                <a:latin typeface="Calibri"/>
              </a:rPr>
              <a:t>no claim that scores predict job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708818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589946"/>
            <a:ext cx="48097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Single session  </a:t>
            </a:r>
            <a:r>
              <a:rPr sz="1600">
                <a:solidFill>
                  <a:srgbClr val="1B2733"/>
                </a:solidFill>
                <a:latin typeface="Calibri"/>
              </a:rPr>
              <a:t>in-memory state, one interview at a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3149924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031052"/>
            <a:ext cx="48097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Research posture  </a:t>
            </a:r>
            <a:r>
              <a:rPr sz="1600">
                <a:solidFill>
                  <a:srgbClr val="1B2733"/>
                </a:solidFill>
                <a:latin typeface="Calibri"/>
              </a:rPr>
              <a:t>no auth, transcripts stored unencrypted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3591030"/>
            <a:ext cx="146304" cy="5029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3472158"/>
            <a:ext cx="480974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 b="1">
                <a:solidFill>
                  <a:srgbClr val="9A4415"/>
                </a:solidFill>
                <a:latin typeface="Calibri"/>
              </a:rPr>
              <a:t>External dependency  </a:t>
            </a:r>
            <a:r>
              <a:rPr sz="1600">
                <a:solidFill>
                  <a:srgbClr val="1B2733"/>
                </a:solidFill>
                <a:latin typeface="Calibri"/>
              </a:rPr>
              <a:t>a model was retired mid-evaluation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29200"/>
            <a:ext cx="10874959" cy="13716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321808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A4415"/>
                </a:solidFill>
                <a:latin typeface="Calibri"/>
              </a:rPr>
              <a:t>Avoiding human data removed the ethical burden of collecting it — and with it my ability to test for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A4415"/>
                </a:solidFill>
                <a:latin typeface="Calibri"/>
              </a:rPr>
              <a:t>demographic disparity. The system is shown to be inspectable, not shown to be fair.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E6B4F"/>
                </a:solidFill>
                <a:latin typeface="Calibri"/>
              </a:rP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What this project contributes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64008" cy="8961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3225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4E79"/>
                </a:solidFill>
                <a:latin typeface="Calibri"/>
              </a:rPr>
              <a:t>A working 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31343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Skill-graph targeting, dual-transport interview, in-browser behavioural analysis, and a scorer that reports its own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18688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218688"/>
            <a:ext cx="64008" cy="896112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3467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9A4415"/>
                </a:solidFill>
                <a:latin typeface="Calibri"/>
              </a:rPr>
              <a:t>An empirical characterisation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333756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Rank-order validity separated from absolute calibration; a halo effect quantified that instruction failed to prevent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42816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242816"/>
            <a:ext cx="64008" cy="896112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3708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4530F"/>
                </a:solidFill>
                <a:latin typeface="Calibri"/>
              </a:rPr>
              <a:t>A documented negative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36168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Why comparing a trained classifier against an LLM judge fails when the labels are model-generated — with the measurements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66944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66944"/>
            <a:ext cx="64008" cy="896112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5394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6B4F"/>
                </a:solidFill>
                <a:latin typeface="Calibri"/>
              </a:rPr>
              <a:t>A reproducible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538581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Evaluation suite and 72 unit tests, so every reported number can be regenerated from cached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What I would do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40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9A4415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22768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Threshold recalibration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25856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On a corpus large enough to avoid overfitting — the single change that would most improve the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62072"/>
            <a:ext cx="10874959" cy="7315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4C3A8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1181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Criterion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099816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Score each rubric criterion in a separate call, removing the halo effect by 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703320"/>
            <a:ext cx="10874959" cy="7315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9227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959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Human-rated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94106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Replace the intended-quality anchor with expert judgement; test whether the consistency signal predicts disagreement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44568"/>
            <a:ext cx="10874959" cy="7315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7640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E6B4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Pilot data for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78231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Real sessions, normal and anomalous, to obtain a measured false-positive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85816"/>
            <a:ext cx="10874959" cy="7315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05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B4530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56418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Demographic bias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562356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5A6B7B"/>
                </a:solidFill>
                <a:latin typeface="Calibri"/>
              </a:rPr>
              <a:t>The obligation the EU AI Act imposes, and the one this work has not discharged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B4530F"/>
                </a:solidFill>
                <a:latin typeface="Calibri"/>
              </a:rPr>
              <a:t>IN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B2733"/>
                </a:solidFill>
                <a:latin typeface="Calibri"/>
              </a:rPr>
              <a:t>The judge ranks well.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B2733"/>
                </a:solidFill>
                <a:latin typeface="Calibri"/>
              </a:rPr>
              <a:t>It calibrates badly.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429000"/>
            <a:ext cx="2011680" cy="64008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5A6B7B"/>
                </a:solidFill>
                <a:latin typeface="Calibri"/>
              </a:rPr>
              <a:t>Both defects were found by this project's own evaluation, and both are reported in full.</a:t>
            </a:r>
          </a:p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5A6B7B"/>
                </a:solidFill>
                <a:latin typeface="Calibri"/>
              </a:rPr>
              <a:t>A system instrumented to be examined can be shown to be wrong — and then corrected.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57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B2733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RESERVE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Backup  ·  threshold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74959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5A6B7B"/>
                </a:solidFill>
                <a:latin typeface="Calibri"/>
              </a:rPr>
              <a:t>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5420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5A6B7B"/>
                </a:solidFill>
                <a:latin typeface="Calibri"/>
              </a:rPr>
              <a:t>In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25420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5A6B7B"/>
                </a:solidFill>
                <a:latin typeface="Calibri"/>
              </a:rPr>
              <a:t>Midpoint of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7" y="25420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5A6B7B"/>
                </a:solidFill>
                <a:latin typeface="Calibri"/>
              </a:rPr>
              <a:t>Widest observed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Weak / 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154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9A4415"/>
                </a:solidFill>
                <a:latin typeface="Calibr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3154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72.9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7" y="3154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76.8  (max weak 67.0, min medium 86.5)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867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Medium / strong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9A4415"/>
                </a:solidFill>
                <a:latin typeface="Calibri"/>
              </a:rP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8679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95.5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7" y="38679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none — the distributions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920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5A6B7B"/>
                </a:solidFill>
                <a:latin typeface="Calibri"/>
              </a:rPr>
              <a:t>Not changed: 18 answers is too small a sample on which to move a decision boundary that would affect every future candidate.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RESERVE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Backup  ·  the fusion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fig06_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24" y="2103120"/>
            <a:ext cx="6700847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RESERVE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Backup  ·  privacy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fig09_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126" y="2148840"/>
            <a:ext cx="735544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RESERVE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Backup  · 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1E6B4F"/>
                </a:solidFill>
                <a:latin typeface="Calibr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2724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unit tests, all passing —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no API calls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9554" y="228600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9554" y="248716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9A4415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58" y="312724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direct regressions on the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substring-matching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0740" y="2286000"/>
            <a:ext cx="3472586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0740" y="2487168"/>
            <a:ext cx="34725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044" y="3127248"/>
            <a:ext cx="31799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end-to-end run with live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model calls at every 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507992"/>
            <a:ext cx="146304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389120"/>
            <a:ext cx="1056406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>
                <a:solidFill>
                  <a:srgbClr val="1B2733"/>
                </a:solidFill>
                <a:latin typeface="Calibri"/>
              </a:rPr>
              <a:t>Skill normalisation, the four-stage matching cascade, and its regressions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49098"/>
            <a:ext cx="146304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830226"/>
            <a:ext cx="1056406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>
                <a:solidFill>
                  <a:srgbClr val="1B2733"/>
                </a:solidFill>
                <a:latin typeface="Calibri"/>
              </a:rPr>
              <a:t>Gap analysis: matched / missing / bonus / extra partitioning and match percentage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390204"/>
            <a:ext cx="146304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5271332"/>
            <a:ext cx="1056406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>
                <a:solidFill>
                  <a:srgbClr val="1B2733"/>
                </a:solidFill>
                <a:latin typeface="Calibri"/>
              </a:rPr>
              <a:t>Transcript pairing: consecutive-speaker merging, unanswered questions, empty 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831310"/>
            <a:ext cx="146304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712438"/>
            <a:ext cx="1056406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600">
                <a:solidFill>
                  <a:srgbClr val="1B2733"/>
                </a:solidFill>
                <a:latin typeface="Calibri"/>
              </a:rPr>
              <a:t>Fusion: weight sums, arithmetic reconciliation, integrity override, monotonicity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