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245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0713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morning. My project is an AI system that interviews a job candidate, marks</a:t>
            </a:r>
          </a:p>
          <a:p>
            <a:r>
              <a:t>their answers, and explains how it reached every mark.</a:t>
            </a:r>
          </a:p>
          <a:p>
            <a:endParaRPr/>
          </a:p>
          <a:p>
            <a:r>
              <a:t>The one sentence to hold on to: most automated interview tools give you a score</a:t>
            </a:r>
          </a:p>
          <a:p>
            <a:r>
              <a:t>and no explanation. Mine measures how far its own scores can be trusted, and</a:t>
            </a:r>
          </a:p>
          <a:p>
            <a:r>
              <a:t>says so when they cannot.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Companies now use AI to interview and score people at a scale no human team</a:t>
            </a:r>
          </a:p>
          <a:p>
            <a:r>
              <a:t>could manage. It is fast, and it asks everyone the same questions.</a:t>
            </a:r>
          </a:p>
          <a:p>
            <a:endParaRPr/>
          </a:p>
          <a:p>
            <a:r>
              <a:t>The trouble is what comes out: a number, and nothing else. No reason, and no way</a:t>
            </a:r>
          </a:p>
          <a:p>
            <a:r>
              <a:t>to argue with it.</a:t>
            </a:r>
          </a:p>
          <a:p>
            <a:endParaRPr/>
          </a:p>
          <a:p>
            <a:r>
              <a:t>This has caused real trouble. In 2019 a privacy group formally complained about</a:t>
            </a:r>
          </a:p>
          <a:p>
            <a:r>
              <a:t>HireVue scoring candidates from their faces. HireVue dropped that in 2021, but</a:t>
            </a:r>
          </a:p>
          <a:p>
            <a:r>
              <a:t>the deeper problem stayed.</a:t>
            </a:r>
          </a:p>
          <a:p>
            <a:endParaRPr/>
          </a:p>
          <a:p>
            <a:r>
              <a:t>It also costs companies money. Candidates who think a process was unfair are</a:t>
            </a:r>
          </a:p>
          <a:p>
            <a:r>
              <a:t>less likely to accept the job, which cancels out the time saved.</a:t>
            </a:r>
          </a:p>
          <a:p>
            <a:endParaRPr/>
          </a:p>
          <a:p>
            <a:r>
              <a:t>And the law has caught up. The EU AI Act now treats hiring software as high</a:t>
            </a:r>
          </a:p>
          <a:p>
            <a:r>
              <a:t>risk. Notice what it asks for: not a perfect model, which nobody can build, but</a:t>
            </a:r>
          </a:p>
          <a:p>
            <a:r>
              <a:t>that problems be tested for, written down, and checked by a person. That is a</a:t>
            </a:r>
          </a:p>
          <a:p>
            <a:r>
              <a:t>list of requirements, and it is the one I built to.</a:t>
            </a:r>
          </a:p>
          <a:p>
            <a:endParaRPr/>
          </a:p>
          <a:p>
            <a:r>
              <a:t>So my question is not whether AI can mark an answer. It plainly can. It is</a:t>
            </a:r>
          </a:p>
          <a:p>
            <a:r>
              <a:t>whether it can be honest about how far each mark should be trusted.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the whole thing, left to right, in four stages.</a:t>
            </a:r>
          </a:p>
          <a:p>
            <a:endParaRPr/>
          </a:p>
          <a:p>
            <a:r>
              <a:t>Prepare. A CV and a job advert go in. The system maps the skills onto ESCO, the</a:t>
            </a:r>
          </a:p>
          <a:p>
            <a:r>
              <a:t>official EU skills list, so when it says a skill is missing, that skill is a real</a:t>
            </a:r>
          </a:p>
          <a:p>
            <a:r>
              <a:t>published thing and not something the AI invented. It writes the interview and</a:t>
            </a:r>
          </a:p>
          <a:p>
            <a:r>
              <a:t>puts the missing skills first, because every interview runs out of time and a</a:t>
            </a:r>
          </a:p>
          <a:p>
            <a:r>
              <a:t>question at the end never gets asked.</a:t>
            </a:r>
          </a:p>
          <a:p>
            <a:endParaRPr/>
          </a:p>
          <a:p>
            <a:r>
              <a:t>Interview. The candidate picks speaking or typing. Both produce exactly the same</a:t>
            </a:r>
          </a:p>
          <a:p>
            <a:r>
              <a:t>transcript, so nothing after this point knows which one ran.</a:t>
            </a:r>
          </a:p>
          <a:p>
            <a:endParaRPr/>
          </a:p>
          <a:p>
            <a:r>
              <a:t>Mark. Greetings and goodbyes are thrown away so they cannot drag the average up.</a:t>
            </a:r>
          </a:p>
          <a:p>
            <a:r>
              <a:t>Every real answer is marked twice. Timing and tab switches get checked.</a:t>
            </a:r>
          </a:p>
          <a:p>
            <a:endParaRPr/>
          </a:p>
          <a:p>
            <a:r>
              <a:t>Report. Everything is combined into one score and a recommendation, with the</a:t>
            </a:r>
          </a:p>
          <a:p>
            <a:r>
              <a:t>working shown.</a:t>
            </a:r>
          </a:p>
          <a:p>
            <a:endParaRPr/>
          </a:p>
          <a:p>
            <a:r>
              <a:t>Thirteen parts do this, and the next four slides go through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first four parts turn two documents into a plan.</a:t>
            </a:r>
          </a:p>
          <a:p>
            <a:endParaRPr/>
          </a:p>
          <a:p>
            <a:r>
              <a:t>M1 and M2 read the CV and the job advert. Both use Gemini, asked to return a</a:t>
            </a:r>
          </a:p>
          <a:p>
            <a:r>
              <a:t>fixed structure. Models sometimes return broken data, so the client repairs it</a:t>
            </a:r>
          </a:p>
          <a:p>
            <a:r>
              <a:t>rather than failing the request — unglamorous, but it is the difference between</a:t>
            </a:r>
          </a:p>
          <a:p>
            <a:r>
              <a:t>a demo that works and one that dies in front of you.</a:t>
            </a:r>
          </a:p>
          <a:p>
            <a:endParaRPr/>
          </a:p>
          <a:p>
            <a:r>
              <a:t>M3 is the core of the project. It maps both skill lists onto ESCO, the EU's</a:t>
            </a:r>
          </a:p>
          <a:p>
            <a:r>
              <a:t>published skills taxonomy, using four matching steps that get gradually more</a:t>
            </a:r>
          </a:p>
          <a:p>
            <a:r>
              <a:t>forgiving. This is deliberately not machine learning: ESCO is already a curated</a:t>
            </a:r>
          </a:p>
          <a:p>
            <a:r>
              <a:t>hierarchy, and learning over it would add opacity while removing the one</a:t>
            </a:r>
          </a:p>
          <a:p>
            <a:r>
              <a:t>property that makes it defensible — that every skill traces to a published</a:t>
            </a:r>
          </a:p>
          <a:p>
            <a:r>
              <a:t>standard.</a:t>
            </a:r>
          </a:p>
          <a:p>
            <a:endParaRPr/>
          </a:p>
          <a:p>
            <a:r>
              <a:t>M4 writes the interview, then reorders it so the missing skills get asked first.</a:t>
            </a:r>
          </a:p>
          <a:p>
            <a:r>
              <a:t>That reordering is Objective 2, and it matters because every interview has a</a:t>
            </a:r>
          </a:p>
          <a:p>
            <a:r>
              <a:t>time budget and a question at the end never gets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interview itself.</a:t>
            </a:r>
          </a:p>
          <a:p>
            <a:endParaRPr/>
          </a:p>
          <a:p>
            <a:r>
              <a:t>M5 is the talking interviewer. LiveKit carries the audio call, Deepgram turns</a:t>
            </a:r>
          </a:p>
          <a:p>
            <a:r>
              <a:t>speech into text, and ElevenLabs is the voice — with Deepgram's own voice as a</a:t>
            </a:r>
          </a:p>
          <a:p>
            <a:r>
              <a:t>backup if that runs out of credit. It shows each question on screen before</a:t>
            </a:r>
          </a:p>
          <a:p>
            <a:r>
              <a:t>speaking it, so a candidate who mishears can read it.</a:t>
            </a:r>
          </a:p>
          <a:p>
            <a:endParaRPr/>
          </a:p>
          <a:p>
            <a:r>
              <a:t>Two things I got wrong here and had to fix. The system checks the voice provider</a:t>
            </a:r>
          </a:p>
          <a:p>
            <a:r>
              <a:t>actually returns audio before starting, because an exhausted account accepts the</a:t>
            </a:r>
          </a:p>
          <a:p>
            <a:r>
              <a:t>connection and returns silence, which looks exactly like success. And the</a:t>
            </a:r>
          </a:p>
          <a:p>
            <a:r>
              <a:t>turn-taking timings had to be slowed right down: the defaults are tuned for</a:t>
            </a:r>
          </a:p>
          <a:p>
            <a:r>
              <a:t>chat, and an interview answer contains long pauses for thought.</a:t>
            </a:r>
          </a:p>
          <a:p>
            <a:endParaRPr/>
          </a:p>
          <a:p>
            <a:r>
              <a:t>M5t is the same interview, typed. It matters more than it sounds: it produces an</a:t>
            </a:r>
          </a:p>
          <a:p>
            <a:r>
              <a:t>identical transcript, so every part after this point is shared. It also lets you</a:t>
            </a:r>
          </a:p>
          <a:p>
            <a:r>
              <a:t>demonstrate the whole system without any audio hardware at all.</a:t>
            </a:r>
          </a:p>
          <a:p>
            <a:endParaRPr/>
          </a:p>
          <a:p>
            <a:r>
              <a:t>M6a keeps the running verdict on each skill that decides whether to follow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parts watch how the interview went rather than what was said.</a:t>
            </a:r>
          </a:p>
          <a:p>
            <a:endParaRPr/>
          </a:p>
          <a:p>
            <a:r>
              <a:t>M7 finds 478 points on the face and works out where the head is pointing and</a:t>
            </a:r>
          </a:p>
          <a:p>
            <a:r>
              <a:t>whether the eyes are on the screen. M8 finds 33 points on the upper body and</a:t>
            </a:r>
          </a:p>
          <a:p>
            <a:r>
              <a:t>checks posture. M10 listens to the sound of the voice — pitch steadiness,</a:t>
            </a:r>
          </a:p>
          <a:p>
            <a:r>
              <a:t>loudness, how much of the time is actual speech.</a:t>
            </a:r>
          </a:p>
          <a:p>
            <a:endParaRPr/>
          </a:p>
          <a:p>
            <a:r>
              <a:t>The line at the bottom is the one I would emphasise. All three run inside the</a:t>
            </a:r>
          </a:p>
          <a:p>
            <a:r>
              <a:t>candidate's own browser using models downloaded once. The video and the audio</a:t>
            </a:r>
          </a:p>
          <a:p>
            <a:r>
              <a:t>never leave their machine; only the resulting numbers are sent. That is what</a:t>
            </a:r>
          </a:p>
          <a:p>
            <a:r>
              <a:t>makes the privacy claim real rather than a promise.</a:t>
            </a:r>
          </a:p>
          <a:p>
            <a:endParaRPr/>
          </a:p>
          <a:p>
            <a:r>
              <a:t>Two limits I would state before you ask. None of this reads emotion — I removed</a:t>
            </a:r>
          </a:p>
          <a:p>
            <a:r>
              <a:t>a facial emotion classifier precisely because it could not be explained, and my</a:t>
            </a:r>
          </a:p>
          <a:p>
            <a:r>
              <a:t>Chapter 2 criticises HireVue for exactly that. And all three together are worth</a:t>
            </a:r>
          </a:p>
          <a:p>
            <a:r>
              <a:t>fifteen points out of a hundred in the final score, against fifty for what the</a:t>
            </a:r>
          </a:p>
          <a:p>
            <a:r>
              <a:t>candidate actually said. Nobody is marked on their 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marking, and this is where the research contribution sits.</a:t>
            </a:r>
          </a:p>
          <a:p>
            <a:endParaRPr/>
          </a:p>
          <a:p>
            <a:r>
              <a:t>M6 is the important one. Research shows that if you change the order you present</a:t>
            </a:r>
          </a:p>
          <a:p>
            <a:r>
              <a:t>the marking criteria in, an AI judge gives a different score. Most people cite</a:t>
            </a:r>
          </a:p>
          <a:p>
            <a:r>
              <a:t>that as a reason not to trust AI marking. I read it as an instruction: mark every</a:t>
            </a:r>
          </a:p>
          <a:p>
            <a:r>
              <a:t>answer twice, with the criteria in a different order each time.</a:t>
            </a:r>
          </a:p>
          <a:p>
            <a:endParaRPr/>
          </a:p>
          <a:p>
            <a:r>
              <a:t>Averaging cancels the effect of the order. But the average is not the interesting</a:t>
            </a:r>
          </a:p>
          <a:p>
            <a:r>
              <a:t>part — the gap between the two marks is. Eighty-two then eighty-one means it is</a:t>
            </a:r>
          </a:p>
          <a:p>
            <a:r>
              <a:t>sure. Seventy-one then forty-five means it is not, and the average of fifty-eight</a:t>
            </a:r>
          </a:p>
          <a:p>
            <a:r>
              <a:t>hides that completely. So the gap is kept, and a big gap sends that answer to a</a:t>
            </a:r>
          </a:p>
          <a:p>
            <a:r>
              <a:t>human instead of reporting a confident score.</a:t>
            </a:r>
          </a:p>
          <a:p>
            <a:endParaRPr/>
          </a:p>
          <a:p>
            <a:r>
              <a:t>M9 checks the session behaved normally. It trains its own model of normal on</a:t>
            </a:r>
          </a:p>
          <a:p>
            <a:r>
              <a:t>first run, because labelled examples of cheating are not something anyone can</a:t>
            </a:r>
          </a:p>
          <a:p>
            <a:r>
              <a:t>ethically collect. It always names the behaviour that caused a flag.</a:t>
            </a:r>
          </a:p>
          <a:p>
            <a:endParaRPr/>
          </a:p>
          <a:p>
            <a:r>
              <a:t>M11 combines everything on fixed published weights — half the score is what the</a:t>
            </a:r>
          </a:p>
          <a:p>
            <a:r>
              <a:t>candidate actually said. M12 writes it up with the working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things.</a:t>
            </a:r>
          </a:p>
          <a:p>
            <a:endParaRPr/>
          </a:p>
          <a:p>
            <a:r>
              <a:t>A working platform that aims its questions using a published skills standard,</a:t>
            </a:r>
          </a:p>
          <a:p>
            <a:r>
              <a:t>interviews by speaking or typing, and produces a report that shows its working.</a:t>
            </a:r>
          </a:p>
          <a:p>
            <a:endParaRPr/>
          </a:p>
          <a:p>
            <a:r>
              <a:t>A clear measurement of how an AI marker behaves in practice — that it can rank</a:t>
            </a:r>
          </a:p>
          <a:p>
            <a:r>
              <a:t>answers well and still be far too generous. That distinction is where both faults</a:t>
            </a:r>
          </a:p>
          <a:p>
            <a:r>
              <a:t>came from.</a:t>
            </a:r>
          </a:p>
          <a:p>
            <a:endParaRPr/>
          </a:p>
          <a:p>
            <a:r>
              <a:t>A documented negative result: comparing a trained model against the AI that</a:t>
            </a:r>
          </a:p>
          <a:p>
            <a:r>
              <a:t>supplied its training answers proves nothing, and I have the evidence.</a:t>
            </a:r>
          </a:p>
          <a:p>
            <a:endParaRPr/>
          </a:p>
          <a:p>
            <a:r>
              <a:t>And the whole test setup is in the submission, so every number can be produced</a:t>
            </a:r>
          </a:p>
          <a:p>
            <a:r>
              <a:t>again.</a:t>
            </a:r>
          </a:p>
          <a:p>
            <a:endParaRPr/>
          </a:p>
          <a:p>
            <a:r>
              <a:t>The wider point is deliberately modest. Being open about one marker — what it</a:t>
            </a:r>
          </a:p>
          <a:p>
            <a:r>
              <a:t>did, how sure it was, when a human should step in — is worth more than adding a</a:t>
            </a:r>
          </a:p>
          <a:p>
            <a:r>
              <a:t>second marker nobody has checked.</a:t>
            </a:r>
          </a:p>
          <a:p>
            <a:endParaRPr/>
          </a:p>
          <a:p>
            <a:r>
              <a:t>And the best evidence for that is what I said earlier: my own testing found two</a:t>
            </a:r>
          </a:p>
          <a:p>
            <a:r>
              <a:t>real faults in my own system. Something built to be examined can be shown to be</a:t>
            </a:r>
          </a:p>
          <a:p>
            <a:r>
              <a:t>wrong, and then fixed. That is worth more than a better-looking score from</a:t>
            </a:r>
          </a:p>
          <a:p>
            <a:r>
              <a:t>something nobody can see inside.</a:t>
            </a:r>
          </a:p>
          <a:p>
            <a:endParaRPr/>
          </a:p>
          <a:p>
            <a:r>
              <a:t>Thank you. I am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1417320"/>
            <a:ext cx="2011680" cy="54864"/>
          </a:xfrm>
          <a:prstGeom prst="rect">
            <a:avLst/>
          </a:prstGeom>
          <a:solidFill>
            <a:srgbClr val="B45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1783080"/>
            <a:ext cx="1087495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000" b="1" i="0">
                <a:solidFill>
                  <a:srgbClr val="1B2733"/>
                </a:solidFill>
                <a:latin typeface="Calibri"/>
              </a:rPr>
              <a:t>An AI Interview Platform</a:t>
            </a:r>
          </a:p>
          <a:p>
            <a:pPr algn="l">
              <a:lnSpc>
                <a:spcPct val="114000"/>
              </a:lnSpc>
            </a:pPr>
            <a:r>
              <a:rPr sz="4000" b="1" i="0">
                <a:solidFill>
                  <a:srgbClr val="1B2733"/>
                </a:solidFill>
                <a:latin typeface="Calibri"/>
              </a:rPr>
              <a:t>That Explains Its Own 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566160"/>
            <a:ext cx="1087495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5A6B7B"/>
                </a:solidFill>
                <a:latin typeface="Calibri"/>
              </a:rPr>
              <a:t>It interviews a candidate, marks the answers, and shows how it</a:t>
            </a:r>
          </a:p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5A6B7B"/>
                </a:solidFill>
                <a:latin typeface="Calibri"/>
              </a:rPr>
              <a:t>reached every mark — including how sure it is about each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846320"/>
            <a:ext cx="10874959" cy="182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5120640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Abdul Wahab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532120"/>
            <a:ext cx="1087495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5A6B7B"/>
                </a:solidFill>
                <a:latin typeface="Calibri"/>
              </a:rPr>
              <a:t>Student Number: [STUDENT NUMBER]    ·    CMP7200 Individual Master's Project    ·    Birmingham City University    ·   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25712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9A4415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54896"/>
            <a:ext cx="10874959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Companies score interviews with AI. Candidates get a number and no reason.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49840"/>
            <a:ext cx="1371600" cy="41148"/>
          </a:xfrm>
          <a:prstGeom prst="rect">
            <a:avLst/>
          </a:prstGeom>
          <a:solidFill>
            <a:srgbClr val="9A4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84687" y="634985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262488"/>
            <a:ext cx="182880" cy="54864"/>
          </a:xfrm>
          <a:prstGeom prst="rect">
            <a:avLst/>
          </a:prstGeom>
          <a:solidFill>
            <a:srgbClr val="9A4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6" y="2107040"/>
            <a:ext cx="1041775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1B2733"/>
                </a:solidFill>
                <a:latin typeface="Calibri"/>
              </a:rPr>
              <a:t>It has caused real trouble.  In 2019 a privacy group complained about HireVue scoring candidates from their faces. The feature went in 2021. The problem stayed.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314048"/>
            <a:ext cx="182880" cy="54864"/>
          </a:xfrm>
          <a:prstGeom prst="rect">
            <a:avLst/>
          </a:prstGeom>
          <a:solidFill>
            <a:srgbClr val="B45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" y="3158600"/>
            <a:ext cx="1041775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 dirty="0">
                <a:solidFill>
                  <a:srgbClr val="1B2733"/>
                </a:solidFill>
                <a:latin typeface="Calibri"/>
              </a:rPr>
              <a:t>It costs companies money.  Candidates who think a process was unfair are less likely to accept the job — cancelling out the time saved.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365608"/>
            <a:ext cx="182880" cy="5486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6" y="4210160"/>
            <a:ext cx="10417759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1B2733"/>
                </a:solidFill>
                <a:latin typeface="Calibri"/>
              </a:rPr>
              <a:t>The law has caught up.  The EU AI Act treats hiring software as high risk. It asks that problems be tested for, written down, and checked by a person.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5042264"/>
            <a:ext cx="10874959" cy="10972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5270864"/>
            <a:ext cx="1005199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B2733"/>
                </a:solidFill>
                <a:latin typeface="Calibri"/>
              </a:rPr>
              <a:t>The question is not “can AI mark an interview answer?” It clearly can.</a:t>
            </a:r>
          </a:p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B2733"/>
                </a:solidFill>
                <a:latin typeface="Calibri"/>
              </a:rPr>
              <a:t>It is “can it be honest about how much to trust each mark?”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1F4E79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How it works, start to finish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0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7856" y="2011680"/>
            <a:ext cx="3995983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54681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F4E79"/>
                </a:solidFill>
                <a:latin typeface="Calibri"/>
              </a:rPr>
              <a:t>1. Prepare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742432"/>
            <a:ext cx="24901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read both documents, find the missing skills, write the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7107" y="54681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E6B4F"/>
                </a:solidFill>
                <a:latin typeface="Calibri"/>
              </a:rPr>
              <a:t>2. Interview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5742432"/>
            <a:ext cx="24901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by speaking or typing — both give the same transcript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54681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9A4415"/>
                </a:solidFill>
                <a:latin typeface="Calibri"/>
              </a:rPr>
              <a:t>3. Mark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5742432"/>
            <a:ext cx="24901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score every answer twice, check the session looked normal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14587" y="5468112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4C3A8C"/>
                </a:solidFill>
                <a:latin typeface="Calibri"/>
              </a:rPr>
              <a:t>4. Report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14587" y="5742432"/>
            <a:ext cx="24901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5A6B7B"/>
                </a:solidFill>
                <a:latin typeface="Calibri"/>
              </a:rPr>
              <a:t>combine into a recommendation, and show the working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382512"/>
            <a:ext cx="1087495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B2733"/>
                </a:solidFill>
                <a:latin typeface="Calibri"/>
              </a:rPr>
              <a:t>Thirteen parts, four stages — the next four slides go through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1F4E79"/>
                </a:solidFill>
                <a:latin typeface="Calibri"/>
              </a:rPr>
              <a:t>MODULES 1 TO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Preparing the interview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5224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20" dirty="0">
                <a:solidFill>
                  <a:srgbClr val="5A6B7B"/>
                </a:solidFill>
                <a:latin typeface="Calibri"/>
              </a:rP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8" y="1952242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20">
                <a:solidFill>
                  <a:srgbClr val="5A6B7B"/>
                </a:solidFill>
                <a:latin typeface="Calibr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8" y="1952242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20">
                <a:solidFill>
                  <a:srgbClr val="5A6B7B"/>
                </a:solidFill>
                <a:latin typeface="Calibri"/>
              </a:rPr>
              <a:t>BUILT WITH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377440"/>
            <a:ext cx="10874959" cy="12801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33629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 dirty="0">
                <a:solidFill>
                  <a:srgbClr val="1F4E79"/>
                </a:solidFill>
                <a:latin typeface="Calibri"/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2336290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 dirty="0">
                <a:solidFill>
                  <a:srgbClr val="1B2733"/>
                </a:solidFill>
                <a:latin typeface="Calibri"/>
              </a:rPr>
              <a:t>Reads the CV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2647186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 dirty="0">
                <a:solidFill>
                  <a:srgbClr val="5A6B7B"/>
                </a:solidFill>
                <a:latin typeface="Calibri"/>
              </a:rPr>
              <a:t>Pulls out skills, jobs, education and projects from an uploaded PDF or pasted text. Repairs broken replies rather than failing.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354578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F4E79"/>
                </a:solidFill>
                <a:latin typeface="Calibri"/>
              </a:rPr>
              <a:t>Google Gemini</a:t>
            </a:r>
          </a:p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F4E79"/>
                </a:solidFill>
                <a:latin typeface="Calibri"/>
              </a:rPr>
              <a:t>3.6 Flash</a:t>
            </a:r>
          </a:p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F4E79"/>
                </a:solidFill>
                <a:latin typeface="Calibri"/>
              </a:rPr>
              <a:t>+ PyMuPDF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305554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F4E79"/>
                </a:solidFill>
                <a:latin typeface="Calibri"/>
              </a:rPr>
              <a:t>M2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8" y="3305554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Reads the job advert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3616450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5A6B7B"/>
                </a:solidFill>
                <a:latin typeface="Calibri"/>
              </a:rPr>
              <a:t>Same treatment for the role: required skills, nice-to-have skills, seniority and domain.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323842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F4E79"/>
                </a:solidFill>
                <a:latin typeface="Calibri"/>
              </a:rPr>
              <a:t>Google Gemini</a:t>
            </a:r>
          </a:p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F4E79"/>
                </a:solidFill>
                <a:latin typeface="Calibri"/>
              </a:rPr>
              <a:t>3.6 Flash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274818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F4E79"/>
                </a:solidFill>
                <a:latin typeface="Calibri"/>
              </a:rPr>
              <a:t>M3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4274818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 dirty="0">
                <a:solidFill>
                  <a:srgbClr val="1B2733"/>
                </a:solidFill>
                <a:latin typeface="Calibri"/>
              </a:rPr>
              <a:t>Compares them and finds the gaps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8" y="4585714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 dirty="0">
                <a:solidFill>
                  <a:srgbClr val="5A6B7B"/>
                </a:solidFill>
                <a:latin typeface="Calibri"/>
              </a:rPr>
              <a:t>Maps both lists onto ESCO, the EU skills standard, through four increasingly forgiving matching steps, then reports what is missing.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4293106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F4E79"/>
                </a:solidFill>
                <a:latin typeface="Calibri"/>
              </a:rPr>
              <a:t>NetworkX</a:t>
            </a:r>
          </a:p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F4E79"/>
                </a:solidFill>
                <a:latin typeface="Calibri"/>
              </a:rPr>
              <a:t>+ ESCO v1.1.1</a:t>
            </a:r>
          </a:p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F4E79"/>
                </a:solidFill>
                <a:latin typeface="Calibri"/>
              </a:rPr>
              <a:t>(1,201 skills)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244082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F4E79"/>
                </a:solidFill>
                <a:latin typeface="Calibri"/>
              </a:rPr>
              <a:t>M4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8" y="5235918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Writes the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5554978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5A6B7B"/>
                </a:solidFill>
                <a:latin typeface="Calibri"/>
              </a:rPr>
              <a:t>Produces openers, technical questions per skill, behavioural questions and closers — then reorders so missing skills come first.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526237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F4E79"/>
                </a:solidFill>
                <a:latin typeface="Calibri"/>
              </a:rPr>
              <a:t>Google Gemini</a:t>
            </a:r>
          </a:p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F4E79"/>
                </a:solidFill>
                <a:latin typeface="Calibri"/>
              </a:rPr>
              <a:t>3.6 Flash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6028834"/>
            <a:ext cx="10874959" cy="6400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2416" y="6088268"/>
            <a:ext cx="10106863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 dirty="0">
                <a:solidFill>
                  <a:srgbClr val="1B2733"/>
                </a:solidFill>
                <a:latin typeface="Calibri"/>
              </a:rPr>
              <a:t>Because ESCO is a published standard, “this skill is missing” means something a candidate could check.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1E6B4F"/>
                </a:solidFill>
                <a:latin typeface="Calibri"/>
              </a:rPr>
              <a:t>MODULES 5, 5T AND 6A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Running the interview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1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6654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20">
                <a:solidFill>
                  <a:srgbClr val="5A6B7B"/>
                </a:solidFill>
                <a:latin typeface="Calibri"/>
              </a:rP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8" y="206654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20">
                <a:solidFill>
                  <a:srgbClr val="5A6B7B"/>
                </a:solidFill>
                <a:latin typeface="Calibr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8" y="206654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20">
                <a:solidFill>
                  <a:srgbClr val="5A6B7B"/>
                </a:solidFill>
                <a:latin typeface="Calibri"/>
              </a:rPr>
              <a:t>BUILT WITH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377440"/>
            <a:ext cx="10874959" cy="12801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450592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E6B4F"/>
                </a:solidFill>
                <a:latin typeface="Calibri"/>
              </a:rPr>
              <a:t>M5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2450592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Runs the spoken interview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2761488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5A6B7B"/>
                </a:solidFill>
                <a:latin typeface="Calibri"/>
              </a:rPr>
              <a:t>Shows each question, speaks it aloud, listens to the answer, decides whether to dig deeper, and saves the transcript.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46888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E6B4F"/>
                </a:solidFill>
                <a:latin typeface="Calibri"/>
              </a:rPr>
              <a:t>LiveKit</a:t>
            </a:r>
          </a:p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E6B4F"/>
                </a:solidFill>
                <a:latin typeface="Calibri"/>
              </a:rPr>
              <a:t>+ Deepgram Nova-3</a:t>
            </a:r>
          </a:p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E6B4F"/>
                </a:solidFill>
                <a:latin typeface="Calibri"/>
              </a:rPr>
              <a:t>+ ElevenLabs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19856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E6B4F"/>
                </a:solidFill>
                <a:latin typeface="Calibri"/>
              </a:rPr>
              <a:t>M5t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8" y="3419856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Runs the typed interview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3730752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5A6B7B"/>
                </a:solidFill>
                <a:latin typeface="Calibri"/>
              </a:rPr>
              <a:t>The same interview answered in a chat box. Produces an identical transcript, so nothing afterwards knows which mode ran.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438144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E6B4F"/>
                </a:solidFill>
                <a:latin typeface="Calibri"/>
              </a:rP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38912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E6B4F"/>
                </a:solidFill>
                <a:latin typeface="Calibri"/>
              </a:rPr>
              <a:t>M6a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4389120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Tracks how each skill is going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8" y="4700016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5A6B7B"/>
                </a:solidFill>
                <a:latin typeface="Calibri"/>
              </a:rPr>
              <a:t>Keeps a live note on every skill — not asked, asked, answered well, answered badly — which decides whether a follow-up is needed.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4407408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E6B4F"/>
                </a:solidFill>
                <a:latin typeface="Calibri"/>
              </a:rPr>
              <a:t>Plain Python</a:t>
            </a:r>
          </a:p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E6B4F"/>
                </a:solidFill>
                <a:latin typeface="Calibri"/>
              </a:rPr>
              <a:t>(state machine)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96128"/>
            <a:ext cx="10874959" cy="6400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2416" y="5769864"/>
            <a:ext cx="10106863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Calibri"/>
              </a:rPr>
              <a:t>M5 and M5t are the same interview with a different way of answering — which is why it is thirteen parts, not fourteen.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1E6B4F"/>
                </a:solidFill>
                <a:latin typeface="Calibri"/>
              </a:rPr>
              <a:t>MODULES 7, 8 AND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Watching the interview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1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6654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20">
                <a:solidFill>
                  <a:srgbClr val="5A6B7B"/>
                </a:solidFill>
                <a:latin typeface="Calibri"/>
              </a:rP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8" y="206654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20">
                <a:solidFill>
                  <a:srgbClr val="5A6B7B"/>
                </a:solidFill>
                <a:latin typeface="Calibr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8" y="206654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20">
                <a:solidFill>
                  <a:srgbClr val="5A6B7B"/>
                </a:solidFill>
                <a:latin typeface="Calibri"/>
              </a:rPr>
              <a:t>BUILT WITH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377440"/>
            <a:ext cx="10874959" cy="12801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450592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E6B4F"/>
                </a:solidFill>
                <a:latin typeface="Calibri"/>
              </a:rPr>
              <a:t>M7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2450592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Watches 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2761488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5A6B7B"/>
                </a:solidFill>
                <a:latin typeface="Calibri"/>
              </a:rPr>
              <a:t>Finds 478 points on the face to work out where the head is pointing and whether the eyes are on the screen.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46888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E6B4F"/>
                </a:solidFill>
                <a:latin typeface="Calibri"/>
              </a:rPr>
              <a:t>MediaPipe</a:t>
            </a:r>
          </a:p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E6B4F"/>
                </a:solidFill>
                <a:latin typeface="Calibri"/>
              </a:rPr>
              <a:t>Face Landmarker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19856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E6B4F"/>
                </a:solidFill>
                <a:latin typeface="Calibri"/>
              </a:rPr>
              <a:t>M8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8" y="3419856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Watches posture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3730752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 dirty="0">
                <a:solidFill>
                  <a:srgbClr val="5A6B7B"/>
                </a:solidFill>
                <a:latin typeface="Calibri"/>
              </a:rPr>
              <a:t>Finds 33 points on the upper body to check whether the shoulders are level and the person is upright rather than slouched.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438144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E6B4F"/>
                </a:solidFill>
                <a:latin typeface="Calibri"/>
              </a:rPr>
              <a:t>MediaPipe</a:t>
            </a:r>
          </a:p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E6B4F"/>
                </a:solidFill>
                <a:latin typeface="Calibri"/>
              </a:rPr>
              <a:t>Pose Landmarker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38912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E6B4F"/>
                </a:solidFill>
                <a:latin typeface="Calibri"/>
              </a:rPr>
              <a:t>M10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4389120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Listens to tone of voice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8" y="4700016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5A6B7B"/>
                </a:solidFill>
                <a:latin typeface="Calibri"/>
              </a:rPr>
              <a:t>Measures the sound, not the words: how steady the pitch is, how loud, and how much is speech rather than pauses.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4407408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1E6B4F"/>
                </a:solidFill>
                <a:latin typeface="Calibri"/>
              </a:rPr>
              <a:t>Web Audio API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96128"/>
            <a:ext cx="10874959" cy="6400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2416" y="5769864"/>
            <a:ext cx="10106863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Calibri"/>
              </a:rPr>
              <a:t>All three run inside the candidate's own browser. Video and audio never leave their computer — only the resulting numbers are sent.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9A4415"/>
                </a:solidFill>
                <a:latin typeface="Calibri"/>
              </a:rPr>
              <a:t>MODULES 6, 9, 11 AND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Marking and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9A4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6654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20">
                <a:solidFill>
                  <a:srgbClr val="5A6B7B"/>
                </a:solidFill>
                <a:latin typeface="Calibri"/>
              </a:rPr>
              <a:t>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8" y="206654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20">
                <a:solidFill>
                  <a:srgbClr val="5A6B7B"/>
                </a:solidFill>
                <a:latin typeface="Calibri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8" y="206654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120">
                <a:solidFill>
                  <a:srgbClr val="5A6B7B"/>
                </a:solidFill>
                <a:latin typeface="Calibri"/>
              </a:rPr>
              <a:t>BUILT WITH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377440"/>
            <a:ext cx="10874959" cy="12801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450592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9A4415"/>
                </a:solidFill>
                <a:latin typeface="Calibri"/>
              </a:rPr>
              <a:t>M6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2450592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Marks every answer — twice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2761488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 dirty="0">
                <a:solidFill>
                  <a:srgbClr val="5A6B7B"/>
                </a:solidFill>
                <a:latin typeface="Calibri"/>
              </a:rPr>
              <a:t>Scores each answer on accuracy, completeness, clarity and relevance, with the criteria in a different order each time. The gap between the two marks says how far to trust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468880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9A4415"/>
                </a:solidFill>
                <a:latin typeface="Calibri"/>
              </a:rPr>
              <a:t>Gemini as judge</a:t>
            </a:r>
          </a:p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9A4415"/>
                </a:solidFill>
                <a:latin typeface="Calibri"/>
              </a:rPr>
              <a:t>(permuted order)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19856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9A4415"/>
                </a:solidFill>
                <a:latin typeface="Calibri"/>
              </a:rPr>
              <a:t>M9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8" y="3419856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Checks for cheating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3730752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5A6B7B"/>
                </a:solidFill>
                <a:latin typeface="Calibri"/>
              </a:rPr>
              <a:t>Looks at tab switches, answers arriving too fast or too slow, and answers that are suspiciously uniform in length.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3438144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9A4415"/>
                </a:solidFill>
                <a:latin typeface="Calibri"/>
              </a:rPr>
              <a:t>scikit-learn</a:t>
            </a:r>
          </a:p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9A4415"/>
                </a:solidFill>
                <a:latin typeface="Calibri"/>
              </a:rPr>
              <a:t>Isolation Forest</a:t>
            </a:r>
          </a:p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9A4415"/>
                </a:solidFill>
                <a:latin typeface="Calibri"/>
              </a:rPr>
              <a:t>(trains itself)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389120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4C3A8C"/>
                </a:solidFill>
                <a:latin typeface="Calibri"/>
              </a:rPr>
              <a:t>M11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9968" y="4389120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Adds everything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8" y="4700016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5A6B7B"/>
                </a:solidFill>
                <a:latin typeface="Calibri"/>
              </a:rPr>
              <a:t>Answers 50%, skills covered 20%, session integrity 15%, delivery 15% — with every contribution shown, not hidden.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4407408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4C3A8C"/>
                </a:solidFill>
                <a:latin typeface="Calibri"/>
              </a:rPr>
              <a:t>Plain Python</a:t>
            </a:r>
          </a:p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4C3A8C"/>
                </a:solidFill>
                <a:latin typeface="Calibri"/>
              </a:rPr>
              <a:t>(fixed weights)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358384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4C3A8C"/>
                </a:solidFill>
                <a:latin typeface="Calibri"/>
              </a:rPr>
              <a:t>M12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29968" y="5358384"/>
            <a:ext cx="60350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2733"/>
                </a:solidFill>
                <a:latin typeface="Calibri"/>
              </a:rPr>
              <a:t>Writes the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9968" y="5669280"/>
            <a:ext cx="6035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5A6B7B"/>
                </a:solidFill>
                <a:latin typeface="Calibri"/>
              </a:rPr>
              <a:t>Each answer and mark, how consistent the marking was, the integrity verdict and the recommendation.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5376672"/>
            <a:ext cx="3200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1" i="0">
                <a:solidFill>
                  <a:srgbClr val="4C3A8C"/>
                </a:solidFill>
                <a:latin typeface="Calibri"/>
              </a:rPr>
              <a:t>Plain Python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96128"/>
            <a:ext cx="10874959" cy="6400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42416" y="5769864"/>
            <a:ext cx="10106863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1B2733"/>
                </a:solidFill>
                <a:latin typeface="Calibri"/>
              </a:rPr>
              <a:t>M6 is the research contribution: mark twice, and keep the disagreement as a measure of how far to trust the mark.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658368"/>
            <a:ext cx="1087495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spc="150">
                <a:solidFill>
                  <a:srgbClr val="1E6B4F"/>
                </a:solidFill>
                <a:latin typeface="Calibri"/>
              </a:rPr>
              <a:t>IN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874959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B2733"/>
                </a:solidFill>
                <a:latin typeface="Calibri"/>
              </a:rPr>
              <a:t>What this project contributes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82496"/>
            <a:ext cx="1371600" cy="41148"/>
          </a:xfrm>
          <a:prstGeom prst="rect">
            <a:avLst/>
          </a:prstGeom>
          <a:solidFill>
            <a:srgbClr val="1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84687" y="638251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194560"/>
            <a:ext cx="164592" cy="54864"/>
          </a:xfrm>
          <a:prstGeom prst="rect">
            <a:avLst/>
          </a:prstGeom>
          <a:solidFill>
            <a:srgbClr val="1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57400"/>
            <a:ext cx="1041775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B2733"/>
                </a:solidFill>
                <a:latin typeface="Calibri"/>
              </a:rPr>
              <a:t>A working platform  that aims its questions using a published skills standard, interviews by speaking or typing, and shows its working.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999232"/>
            <a:ext cx="164592" cy="54864"/>
          </a:xfrm>
          <a:prstGeom prst="rect">
            <a:avLst/>
          </a:prstGeom>
          <a:solidFill>
            <a:srgbClr val="1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862072"/>
            <a:ext cx="1041775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B2733"/>
                </a:solidFill>
                <a:latin typeface="Calibri"/>
              </a:rPr>
              <a:t>A clear measurement  of how an AI marker behaves in practice — it can rank answers well and still mark them far too generously.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803904"/>
            <a:ext cx="164592" cy="54864"/>
          </a:xfrm>
          <a:prstGeom prst="rect">
            <a:avLst/>
          </a:prstGeom>
          <a:solidFill>
            <a:srgbClr val="1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3666744"/>
            <a:ext cx="1041775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B2733"/>
                </a:solidFill>
                <a:latin typeface="Calibri"/>
              </a:rPr>
              <a:t>A documented negative result  checking an AI against a model trained on that same AI's answers proves nothing, and here is the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608576"/>
            <a:ext cx="164592" cy="54864"/>
          </a:xfrm>
          <a:prstGeom prst="rect">
            <a:avLst/>
          </a:prstGeom>
          <a:solidFill>
            <a:srgbClr val="1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4471416"/>
            <a:ext cx="1041775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B2733"/>
                </a:solidFill>
                <a:latin typeface="Calibri"/>
              </a:rPr>
              <a:t>A test setup anyone can rerun  included in the submission, so every number here can be produced again.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892040"/>
            <a:ext cx="10874959" cy="13258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5102352"/>
            <a:ext cx="1005199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B2733"/>
                </a:solidFill>
                <a:latin typeface="Calibri"/>
              </a:rPr>
              <a:t>My own testing found two real faults in my own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5532120"/>
            <a:ext cx="1005199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A6B7B"/>
                </a:solidFill>
                <a:latin typeface="Calibri"/>
              </a:rPr>
              <a:t>Something built to be examined can be shown to be wrong, and then fixed. That is worth more than a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A6B7B"/>
                </a:solidFill>
                <a:latin typeface="Calibri"/>
              </a:rPr>
              <a:t>better-looking score from something nobody can see inside.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2494</Words>
  <Application>Microsoft Office PowerPoint</Application>
  <PresentationFormat>Widescreen</PresentationFormat>
  <Paragraphs>275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Explainable Multi-Agent AI Interview Platform</dc:title>
  <dc:subject/>
  <dc:creator>Abdul Wahab</dc:creator>
  <cp:keywords/>
  <dc:description>generated using python-pptx</dc:description>
  <cp:lastModifiedBy>SHER ALI</cp:lastModifiedBy>
  <cp:revision>3</cp:revision>
  <dcterms:created xsi:type="dcterms:W3CDTF">2013-01-27T09:14:16Z</dcterms:created>
  <dcterms:modified xsi:type="dcterms:W3CDTF">2026-08-28T15:49:27Z</dcterms:modified>
  <cp:category/>
</cp:coreProperties>
</file>