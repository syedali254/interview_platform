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morning. My project is an AI interview platform, but the question I set out</a:t>
            </a:r>
          </a:p>
          <a:p>
            <a:r>
              <a:t>to answer is narrower than that and more specific.</a:t>
            </a:r>
          </a:p>
          <a:p/>
          <a:p>
            <a:r>
              <a:t>Automated interview tools already screen millions of candidates. They return a</a:t>
            </a:r>
          </a:p>
          <a:p>
            <a:r>
              <a:t>score. What they mostly do not return is any account of how stable that score</a:t>
            </a:r>
          </a:p>
          <a:p>
            <a:r>
              <a:t>is. My question was whether a system built around a language model can be made</a:t>
            </a:r>
          </a:p>
          <a:p>
            <a:r>
              <a:t>accountable for the reliability of its own judgements.</a:t>
            </a:r>
          </a:p>
          <a:p/>
          <a:p>
            <a:r>
              <a:t>I will cover what I built in about five minutes, then spend most of my time on</a:t>
            </a:r>
          </a:p>
          <a:p>
            <a:r>
              <a:t>what measuring it actually revealed — because the evaluation found two real</a:t>
            </a:r>
          </a:p>
          <a:p>
            <a:r>
              <a:t>defects in my own system, and that is the most interesting part of this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things frame this project.</a:t>
            </a:r>
          </a:p>
          <a:p/>
          <a:p>
            <a:r>
              <a:t>First, the practice. HireVue was challenged by the Electronic Privacy Information</a:t>
            </a:r>
          </a:p>
          <a:p>
            <a:r>
              <a:t>Center in 2019 over unvalidated facial analysis. They withdrew visual analysis in</a:t>
            </a:r>
          </a:p>
          <a:p>
            <a:r>
              <a:t>2021 but kept scoring verbal responses. The underlying problem survived the</a:t>
            </a:r>
          </a:p>
          <a:p>
            <a:r>
              <a:t>change — candidates still received a number and no account of how it was reached.</a:t>
            </a:r>
          </a:p>
          <a:p/>
          <a:p>
            <a:r>
              <a:t>Second, the regulation. The EU AI Act now classifies recruitment systems as</a:t>
            </a:r>
          </a:p>
          <a:p>
            <a:r>
              <a:t>high-risk and requires transparency, human oversight and bias testing. Opacity is</a:t>
            </a:r>
          </a:p>
          <a:p>
            <a:r>
              <a:t>now a compliance problem, not just an ethical one.</a:t>
            </a:r>
          </a:p>
          <a:p/>
          <a:p>
            <a:r>
              <a:t>Third — and this is the part that motivated my design — Langer and colleagues</a:t>
            </a:r>
          </a:p>
          <a:p>
            <a:r>
              <a:t>found that candidates rate automated interviews as markedly less fair, and the</a:t>
            </a:r>
          </a:p>
          <a:p>
            <a:r>
              <a:t>effect is strongest where no explanation is given. Candidates who think a process</a:t>
            </a:r>
          </a:p>
          <a:p>
            <a:r>
              <a:t>is unfair are less likely to accept offers. So explainability is not only</a:t>
            </a:r>
          </a:p>
          <a:p>
            <a:r>
              <a:t>ethical, it is commercially instrumental. That reframing is what made me treat it</a:t>
            </a:r>
          </a:p>
          <a:p>
            <a:r>
              <a:t>as an engineering requirement rather than a nice-to-have.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question the whole project turns on.</a:t>
            </a:r>
          </a:p>
          <a:p/>
          <a:p>
            <a:r>
              <a:t>Note what it does not ask. It does not ask whether a language model can score an</a:t>
            </a:r>
          </a:p>
          <a:p>
            <a:r>
              <a:t>interview answer — the literature already establishes that it can, at roughly</a:t>
            </a:r>
          </a:p>
          <a:p>
            <a:r>
              <a:t>human levels of agreement on open-ended tasks.</a:t>
            </a:r>
          </a:p>
          <a:p/>
          <a:p>
            <a:r>
              <a:t>It asks whether a system built around one can be held accountable for how</a:t>
            </a:r>
          </a:p>
          <a:p>
            <a:r>
              <a:t>reliable its scores are. That is an engineering question, and it has a testable</a:t>
            </a:r>
          </a:p>
          <a:p>
            <a:r>
              <a:t>answer.</a:t>
            </a:r>
          </a:p>
          <a:p/>
          <a:p>
            <a:r>
              <a:t>The distinction matters because it changes what counts as success. A system that</a:t>
            </a:r>
          </a:p>
          <a:p>
            <a:r>
              <a:t>scores well but cannot tell you when it is unsure has not solved the problem I</a:t>
            </a:r>
          </a:p>
          <a:p>
            <a:r>
              <a:t>set out to solve.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architecture in one sentence: pre-interview turns documents into a targeted</a:t>
            </a:r>
          </a:p>
          <a:p>
            <a:r>
              <a:t>interview plan, the live phase conducts and observes it, assessment scores it,</a:t>
            </a:r>
          </a:p>
          <a:p>
            <a:r>
              <a:t>and reporting fuses the result.</a:t>
            </a:r>
          </a:p>
          <a:p/>
          <a:p>
            <a:r>
              <a:t>Two things are worth pointing at.</a:t>
            </a:r>
          </a:p>
          <a:p/>
          <a:p>
            <a:r>
              <a:t>The skill graph on the left feeds both the question generator in phase one and</a:t>
            </a:r>
          </a:p>
          <a:p>
            <a:r>
              <a:t>the fusion engine in phase four — the dashed orange line. It is not just a</a:t>
            </a:r>
          </a:p>
          <a:p>
            <a:r>
              <a:t>preparation step; CV-to-role match is a fifth of the final score in its own</a:t>
            </a:r>
          </a:p>
          <a:p>
            <a:r>
              <a:t>right.</a:t>
            </a:r>
          </a:p>
          <a:p/>
          <a:p>
            <a:r>
              <a:t>And every module declares its input and output and communicates only through</a:t>
            </a:r>
          </a:p>
          <a:p>
            <a:r>
              <a:t>them. That sounds like textbook advice, but it earned its keep: it is what let me</a:t>
            </a:r>
          </a:p>
          <a:p>
            <a:r>
              <a:t>remove an entire evaluation track late in the project without touching anything</a:t>
            </a:r>
          </a:p>
          <a:p>
            <a:r>
              <a:t>else. I will come back to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Quickly, so you can picture it.</a:t>
            </a:r>
          </a:p>
          <a:p/>
          <a:p>
            <a:r>
              <a:t>A CV and a job advert go in. The system reads both, maps the skills onto ESCO</a:t>
            </a:r>
          </a:p>
          <a:p>
            <a:r>
              <a:t>and works out what is missing.</a:t>
            </a:r>
          </a:p>
          <a:p/>
          <a:p>
            <a:r>
              <a:t>It writes the interview and reorders it so the missing skills are asked first —</a:t>
            </a:r>
          </a:p>
          <a:p>
            <a:r>
              <a:t>because every interview has a time budget, and a question that falls off the end</a:t>
            </a:r>
          </a:p>
          <a:p>
            <a:r>
              <a:t>is a question never asked.</a:t>
            </a:r>
          </a:p>
          <a:p/>
          <a:p>
            <a:r>
              <a:t>The candidate does a device check and picks voice or typing. While they are on</a:t>
            </a:r>
          </a:p>
          <a:p>
            <a:r>
              <a:t>that screen the media server and the agent are already starting, which hides</a:t>
            </a:r>
          </a:p>
          <a:p>
            <a:r>
              <a:t>about twelve seconds of start-up.</a:t>
            </a:r>
          </a:p>
          <a:p/>
          <a:p>
            <a:r>
              <a:t>The interview runs. The browser watches attention, posture and tone of voice —</a:t>
            </a:r>
          </a:p>
          <a:p>
            <a:r>
              <a:t>none of that video or audio leaves their machine. Tab switches are recorded.</a:t>
            </a:r>
          </a:p>
          <a:p/>
          <a:p>
            <a:r>
              <a:t>Afterwards the transcript is paired into question-and-answer exchanges.</a:t>
            </a:r>
          </a:p>
          <a:p>
            <a:r>
              <a:t>Greetings and sign-offs are dropped so they cannot dilute the average. Every</a:t>
            </a:r>
          </a:p>
          <a:p>
            <a:r>
              <a:t>real answer is marked twice.</a:t>
            </a:r>
          </a:p>
          <a:p/>
          <a:p>
            <a:r>
              <a:t>Timing and telemetry go to the integrity check, everything is fused, and the</a:t>
            </a:r>
          </a:p>
          <a:p>
            <a:r>
              <a:t>report comes out with the working shown.</a:t>
            </a:r>
          </a:p>
          <a:p/>
          <a:p>
            <a:r>
              <a:t>The point to land: the same transcript shape comes out of both voice and text,</a:t>
            </a:r>
          </a:p>
          <a:p>
            <a:r>
              <a:t>so nothing downstream knows or cares which mode ran.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graph is built from ESCO, the EU occupational taxonomy — 1,201 digital</a:t>
            </a:r>
          </a:p>
          <a:p>
            <a:r>
              <a:t>skills, extended with a modern technology stack and soft skills that ESCO covers</a:t>
            </a:r>
          </a:p>
          <a:p>
            <a:r>
              <a:t>only sparsely.</a:t>
            </a:r>
          </a:p>
          <a:p/>
          <a:p>
            <a:r>
              <a:t>The design problem here is not building the graph, which is mechanical. It is</a:t>
            </a:r>
          </a:p>
          <a:p>
            <a:r>
              <a:t>mapping free text onto a controlled vocabulary. A CV says k8s; the taxonomy says</a:t>
            </a:r>
          </a:p>
          <a:p>
            <a:r>
              <a:t>Kubernetes.</a:t>
            </a:r>
          </a:p>
          <a:p/>
          <a:p>
            <a:r>
              <a:t>My first implementation used a substring fallback. It mapped Team Leadership onto</a:t>
            </a:r>
          </a:p>
          <a:p>
            <a:r>
              <a:t>the ESCO concept R — the programming language — and Communication onto</a:t>
            </a:r>
          </a:p>
          <a:p>
            <a:r>
              <a:t>telecommunications engineering. The failure was silent. The graph looked</a:t>
            </a:r>
          </a:p>
          <a:p>
            <a:r>
              <a:t>plausible and the gap analysis reported confident nonsense.</a:t>
            </a:r>
          </a:p>
          <a:p/>
          <a:p>
            <a:r>
              <a:t>That is the lesson I would most want to carry forward: in this system the</a:t>
            </a:r>
          </a:p>
          <a:p>
            <a:r>
              <a:t>dangerous failures are the silent ones. An exception is visible. A plausible</a:t>
            </a:r>
          </a:p>
          <a:p>
            <a:r>
              <a:t>wrong answer is not. Both of those specific failures are now regression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core of the project, so let me be precise about it.</a:t>
            </a:r>
          </a:p>
          <a:p/>
          <a:p>
            <a:r>
              <a:t>Every answer is scored twice against the same rubric, with the four criteria</a:t>
            </a:r>
          </a:p>
          <a:p>
            <a:r>
              <a:t>presented in two different orders. The mean is what gets reported.</a:t>
            </a:r>
          </a:p>
          <a:p/>
          <a:p>
            <a:r>
              <a:t>But the more useful output is the disagreement between the two passes. A judge</a:t>
            </a:r>
          </a:p>
          <a:p>
            <a:r>
              <a:t>returning 82 and 81 for the same answer is stable. One returning 71 and 45 is</a:t>
            </a:r>
          </a:p>
          <a:p>
            <a:r>
              <a:t>not — and the mean of 58 hides that completely.</a:t>
            </a:r>
          </a:p>
          <a:p/>
          <a:p>
            <a:r>
              <a:t>So the spread is kept, banded into high, moderate and low consistency, and</a:t>
            </a:r>
          </a:p>
          <a:p>
            <a:r>
              <a:t>answers in the low band are flagged for a human instead of being reported as</a:t>
            </a:r>
          </a:p>
          <a:p>
            <a:r>
              <a:t>confident scores.</a:t>
            </a:r>
          </a:p>
          <a:p/>
          <a:p>
            <a:r>
              <a:t>That is the mechanism by which the system is accountable for its own reliability.</a:t>
            </a:r>
          </a:p>
          <a:p>
            <a:r>
              <a:t>It is not a claim that the judge is unbiased. It is a claim that when the judge</a:t>
            </a:r>
          </a:p>
          <a:p>
            <a:r>
              <a:t>is unstable, the system says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Design Science Research, after Hevner. I built an artefact and then studied it.</a:t>
            </a:r>
          </a:p>
          <a:p/>
          <a:p>
            <a:r>
              <a:t>What I want to draw out is that in all three cycles the evaluation stage produced</a:t>
            </a:r>
          </a:p>
          <a:p>
            <a:r>
              <a:t>a measurement that forced a change, rather than confirming a decision I had</a:t>
            </a:r>
          </a:p>
          <a:p>
            <a:r>
              <a:t>already made.</a:t>
            </a:r>
          </a:p>
          <a:p/>
          <a:p>
            <a:r>
              <a:t>Cycle one: the substring matching failure I just described.</a:t>
            </a:r>
          </a:p>
          <a:p/>
          <a:p>
            <a:r>
              <a:t>Cycle two: the voice agent went silent mid-interview. The cause was an exhausted</a:t>
            </a:r>
          </a:p>
          <a:p>
            <a:r>
              <a:t>speech-synthesis quota — the provider accepts the connection and returns no audio,</a:t>
            </a:r>
          </a:p>
          <a:p>
            <a:r>
              <a:t>which is indistinguishable from success unless you inspect the frames. The fix</a:t>
            </a:r>
          </a:p>
          <a:p>
            <a:r>
              <a:t>was a startup probe that spends two characters confirming audio actually comes</a:t>
            </a:r>
          </a:p>
          <a:p>
            <a:r>
              <a:t>back, then falls through to a second provider.</a:t>
            </a:r>
          </a:p>
          <a:p/>
          <a:p>
            <a:r>
              <a:t>Cycle three ended a whole track. I will come to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experiments, each isolating one property by manipulating a single factor.</a:t>
            </a:r>
          </a:p>
          <a:p/>
          <a:p>
            <a:r>
              <a:t>Discriminant validity: does it separate good answers from bad ones.</a:t>
            </a:r>
          </a:p>
          <a:p>
            <a:r>
              <a:t>Positional bias: does presentation order move the score.</a:t>
            </a:r>
          </a:p>
          <a:p>
            <a:r>
              <a:t>Paraphrase invariance: does rewording move it.</a:t>
            </a:r>
          </a:p>
          <a:p>
            <a:r>
              <a:t>Criterion independence: does the rubric actually decompose.</a:t>
            </a:r>
          </a:p>
          <a:p>
            <a:r>
              <a:t>Verbosity: does padding buy marks.</a:t>
            </a:r>
          </a:p>
          <a:p/>
          <a:p>
            <a:r>
              <a:t>Eighteen graded answers across six questions, each scored twice — so E1, E2 and</a:t>
            </a:r>
          </a:p>
          <a:p>
            <a:r>
              <a:t>E4 all draw on the same set of judge calls. Sixty-eight API calls in total, all</a:t>
            </a:r>
          </a:p>
          <a:p>
            <a:r>
              <a:t>judging done by gemini-2.5-flash.</a:t>
            </a:r>
          </a:p>
          <a:p/>
          <a:p>
            <a:r>
              <a:t>Worth knowing, and worth saying if asked: that model was withdrawn from new API</a:t>
            </a:r>
          </a:p>
          <a:p>
            <a:r>
              <a:t>keys shortly after I took these measurements, and the system now runs a later</a:t>
            </a:r>
          </a:p>
          <a:p>
            <a:r>
              <a:t>release. So these results describe that model specifically, not language-model</a:t>
            </a:r>
          </a:p>
          <a:p>
            <a:r>
              <a:t>judges in general. It is also a live example of the external-dependency risk in</a:t>
            </a:r>
          </a:p>
          <a:p>
            <a:r>
              <a:t>my limitations.</a:t>
            </a:r>
          </a:p>
          <a:p/>
          <a:p>
            <a:r>
              <a:t>The sample is small and I will say so again in the limitations. The fixtures were</a:t>
            </a:r>
          </a:p>
          <a:p>
            <a:r>
              <a:t>generated by a different model from the one grading them, which weakens the</a:t>
            </a:r>
          </a:p>
          <a:p>
            <a:r>
              <a:t>objection that the judge is just recognising its own prose.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rank ordering, the result is genuinely strong. Spearman's rho of 0.92, p below</a:t>
            </a:r>
          </a:p>
          <a:p>
            <a:r>
              <a:t>0.001. Cohen's d separating strong from weak answers is 2.98 — a very large</a:t>
            </a:r>
          </a:p>
          <a:p>
            <a:r>
              <a:t>effect.</a:t>
            </a:r>
          </a:p>
          <a:p/>
          <a:p>
            <a:r>
              <a:t>Within this corpus the judge almost never places a weaker answer above a stronger</a:t>
            </a:r>
          </a:p>
          <a:p>
            <a:r>
              <a:t>one. If the question is "did candidate A answer better than candidate B", the</a:t>
            </a:r>
          </a:p>
          <a:p>
            <a:r>
              <a:t>ordering can be trusted.</a:t>
            </a:r>
          </a:p>
          <a:p/>
          <a:p>
            <a:r>
              <a:t>Hold that thought, because the next slide is the same data viewed differently,</a:t>
            </a:r>
          </a:p>
          <a:p>
            <a:r>
              <a:t>and it says something much less comfortable.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most important slide in the presentation.</a:t>
            </a:r>
          </a:p>
          <a:p/>
          <a:p>
            <a:r>
              <a:t>Look at the means. Answers written to be deliberately weak averaged 53. Partially</a:t>
            </a:r>
          </a:p>
          <a:p>
            <a:r>
              <a:t>correct answers averaged 92.8. Strong answers averaged 98.3.</a:t>
            </a:r>
          </a:p>
          <a:p/>
          <a:p>
            <a:r>
              <a:t>My system reports any answer at or above 70 as strong. So deliberately partial</a:t>
            </a:r>
          </a:p>
          <a:p>
            <a:r>
              <a:t>answers clear that threshold comfortably — and medium and strong answers receive</a:t>
            </a:r>
          </a:p>
          <a:p>
            <a:r>
              <a:t>the identical verdict. Exact band agreement is only 38.9 per cent, and weighted</a:t>
            </a:r>
          </a:p>
          <a:p>
            <a:r>
              <a:t>kappa drops to 0.56.</a:t>
            </a:r>
          </a:p>
          <a:p/>
          <a:p>
            <a:r>
              <a:t>The scoring model ranks candidates well, and then my verdict layer throws most of</a:t>
            </a:r>
          </a:p>
          <a:p>
            <a:r>
              <a:t>that resolution away.</a:t>
            </a:r>
          </a:p>
          <a:p/>
          <a:p>
            <a:r>
              <a:t>The implication is about what the score means. A judge that ranks well but</a:t>
            </a:r>
          </a:p>
          <a:p>
            <a:r>
              <a:t>calibrates badly is a comparative instrument, not an absolute one. It supports</a:t>
            </a:r>
          </a:p>
          <a:p>
            <a:r>
              <a:t>"A answered better than B". It does not support "this candidate scored 92 and</a:t>
            </a:r>
          </a:p>
          <a:p>
            <a:r>
              <a:t>therefore meets a standard" — and my artefact was presenting it as though it did.</a:t>
            </a:r>
          </a:p>
          <a:p/>
          <a:p>
            <a:r>
              <a:t>If asked why I did not simply fix the thresholds: eighteen answers is far too</a:t>
            </a:r>
          </a:p>
          <a:p>
            <a:r>
              <a:t>small a sample on which to move a decision boundary that would affect every</a:t>
            </a:r>
          </a:p>
          <a:p>
            <a:r>
              <a:t>future candidate. Fitting thresholds to this corpus is exactly the overfitting I</a:t>
            </a:r>
          </a:p>
          <a:p>
            <a:r>
              <a:t>criticise elsewhere in the dissertation. I derived the implied boundaries and</a:t>
            </a:r>
          </a:p>
          <a:p>
            <a:r>
              <a:t>recommended recalibration on a larger corpus as the highest-priority next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My rubric instructs the judge, explicitly, to score four criteria independently,</a:t>
            </a:r>
          </a:p>
          <a:p>
            <a:r>
              <a:t>and states that a weakness in one must not drag down the others.</a:t>
            </a:r>
          </a:p>
          <a:p/>
          <a:p>
            <a:r>
              <a:t>The mean correlation between them is 0.846. Even the most independent pair</a:t>
            </a:r>
          </a:p>
          <a:p>
            <a:r>
              <a:t>correlates at 0.744.</a:t>
            </a:r>
          </a:p>
          <a:p/>
          <a:p>
            <a:r>
              <a:t>Some correlation is legitimate — accurate answers genuinely do tend to be more</a:t>
            </a:r>
          </a:p>
          <a:p>
            <a:r>
              <a:t>complete, because both follow from understanding the material. But correlations</a:t>
            </a:r>
          </a:p>
          <a:p>
            <a:r>
              <a:t>in this range mean the four scores carry substantially less than four pieces of</a:t>
            </a:r>
          </a:p>
          <a:p>
            <a:r>
              <a:t>information. The judge appears to form one overall impression and then distribute</a:t>
            </a:r>
          </a:p>
          <a:p>
            <a:r>
              <a:t>it. That is the classic halo effect from the human rating literature, and</a:t>
            </a:r>
          </a:p>
          <a:p>
            <a:r>
              <a:t>instructing a model against it evidently did not remove it.</a:t>
            </a:r>
          </a:p>
          <a:p/>
          <a:p>
            <a:r>
              <a:t>This qualifies a claim I make in the design chapter. I defended the per-criterion</a:t>
            </a:r>
          </a:p>
          <a:p>
            <a:r>
              <a:t>breakdown as telling a candidate which aspect fell short. That defence is weaker</a:t>
            </a:r>
          </a:p>
          <a:p>
            <a:r>
              <a:t>than it looked: if the four marks move together, the breakdown communicates one</a:t>
            </a:r>
          </a:p>
          <a:p>
            <a:r>
              <a:t>impression four times.</a:t>
            </a:r>
          </a:p>
          <a:p/>
          <a:p>
            <a:r>
              <a:t>The structural response — which I propose rather than claim — is to score each</a:t>
            </a:r>
          </a:p>
          <a:p>
            <a:r>
              <a:t>criterion in a separate call, so each judgement is formed without sight of the</a:t>
            </a:r>
          </a:p>
          <a:p>
            <a:r>
              <a:t>others.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want to report this one carefully, because it did not go the way my design</a:t>
            </a:r>
          </a:p>
          <a:p>
            <a:r>
              <a:t>predicted.</a:t>
            </a:r>
          </a:p>
          <a:p/>
          <a:p>
            <a:r>
              <a:t>Positional instability was small. Mean absolute spread between the two rubric</a:t>
            </a:r>
          </a:p>
          <a:p>
            <a:r>
              <a:t>orderings was 2.22 points. Seventeen of eighteen answers fell in the high</a:t>
            </a:r>
          </a:p>
          <a:p>
            <a:r>
              <a:t>consistency band, one in moderate, none in low. No answer was escalated to human</a:t>
            </a:r>
          </a:p>
          <a:p>
            <a:r>
              <a:t>review.</a:t>
            </a:r>
          </a:p>
          <a:p/>
          <a:p>
            <a:r>
              <a:t>That is a null result for the mechanism I built, and I report it as one rather</a:t>
            </a:r>
          </a:p>
          <a:p>
            <a:r>
              <a:t>than dressing it up. The instrumentation is justified by the literature, it is</a:t>
            </a:r>
          </a:p>
          <a:p>
            <a:r>
              <a:t>demonstrably operative — the spread is computed and banded for every answer — but</a:t>
            </a:r>
          </a:p>
          <a:p>
            <a:r>
              <a:t>on this corpus it never needed to fire.</a:t>
            </a:r>
          </a:p>
          <a:p/>
          <a:p>
            <a:r>
              <a:t>Two readings are possible and my data cannot separate them. Either the</a:t>
            </a:r>
          </a:p>
          <a:p>
            <a:r>
              <a:t>countermeasure works and the averaging is doing its job, or machine-written</a:t>
            </a:r>
          </a:p>
          <a:p>
            <a:r>
              <a:t>answers are unusually easy to score consistently and real transcribed speech</a:t>
            </a:r>
          </a:p>
          <a:p>
            <a:r>
              <a:t>would produce wider spreads.</a:t>
            </a:r>
          </a:p>
          <a:p/>
          <a:p>
            <a:r>
              <a:t>There is one piece of weak evidence for the second reading. In my worked example</a:t>
            </a:r>
          </a:p>
          <a:p>
            <a:r>
              <a:t>using a realistic session, the single genuinely partial answer — a candidate</a:t>
            </a:r>
          </a:p>
          <a:p>
            <a:r>
              <a:t>admitting they had not used Kubernetes — drew the widest disagreement of the</a:t>
            </a:r>
          </a:p>
          <a:p>
            <a:r>
              <a:t>interview, ten points. One observation proves nothing, but it points at where the</a:t>
            </a:r>
          </a:p>
          <a:p>
            <a:r>
              <a:t>instrumentation would earn its place: not on clearly good or clearly bad answers,</a:t>
            </a:r>
          </a:p>
          <a:p>
            <a:r>
              <a:t>which are easy, but in the ambiguous middle.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My proposal's headline contribution was a comparison between the language-model</a:t>
            </a:r>
          </a:p>
          <a:p>
            <a:r>
              <a:t>judge and a trained classifier — Sentence-BERT features into XGBoost, with SHAP</a:t>
            </a:r>
          </a:p>
          <a:p>
            <a:r>
              <a:t>explanations. I built it. Then I removed it. This is the biggest change in the</a:t>
            </a:r>
          </a:p>
          <a:p>
            <a:r>
              <a:t>project, so let me justify it properly.</a:t>
            </a:r>
          </a:p>
          <a:p/>
          <a:p>
            <a:r>
              <a:t>Three reasons, in order of weight.</a:t>
            </a:r>
          </a:p>
          <a:p/>
          <a:p>
            <a:r>
              <a:t>First, the comparison was circular by construction. My proposal sourced training</a:t>
            </a:r>
          </a:p>
          <a:p>
            <a:r>
              <a:t>labels by prompting a language model to generate answers at defined quality</a:t>
            </a:r>
          </a:p>
          <a:p>
            <a:r>
              <a:t>levels. So the classifier's ground truth was the language model's own opinion.</a:t>
            </a:r>
          </a:p>
          <a:p>
            <a:r>
              <a:t>Agreement was guaranteed by the design; disagreement would only have measured the</a:t>
            </a:r>
          </a:p>
          <a:p>
            <a:r>
              <a:t>poverty of six surface features. The experiment could not have answered the</a:t>
            </a:r>
          </a:p>
          <a:p>
            <a:r>
              <a:t>question it was built to answer.</a:t>
            </a:r>
          </a:p>
          <a:p/>
          <a:p>
            <a:r>
              <a:t>Second, the metric that would have made it meaningful was unobtainable. Agreement</a:t>
            </a:r>
          </a:p>
          <a:p>
            <a:r>
              <a:t>with human ratings was the anchor, and that needed the two-rater validation set my</a:t>
            </a:r>
          </a:p>
          <a:p>
            <a:r>
              <a:t>timeline could not accommodate.</a:t>
            </a:r>
          </a:p>
          <a:p/>
          <a:p>
            <a:r>
              <a:t>Third — and this settled it — the trained model failed on inspection. One feature,</a:t>
            </a:r>
          </a:p>
          <a:p>
            <a:r>
              <a:t>semantic similarity, carried 0.543 of the model, more than the other five</a:t>
            </a:r>
          </a:p>
          <a:p>
            <a:r>
              <a:t>combined. That traced to a data-handling error: the strong answer had been used</a:t>
            </a:r>
          </a:p>
          <a:p>
            <a:r>
              <a:t>as its own reference, so every strong training sample carried a similarity of</a:t>
            </a:r>
          </a:p>
          <a:p>
            <a:r>
              <a:t>exactly 1.0, a value unreachable at inference time.</a:t>
            </a:r>
          </a:p>
          <a:p/>
          <a:p>
            <a:r>
              <a:t>The probe on the right is the consequence. An answer identical to the reference</a:t>
            </a:r>
          </a:p>
          <a:p>
            <a:r>
              <a:t>scored 64.7. A correct paraphrase of it scored 39.2 — below the threshold at</a:t>
            </a:r>
          </a:p>
          <a:p>
            <a:r>
              <a:t>which my system reports a skill gap. A scorer that calls a correct answer a gap</a:t>
            </a:r>
          </a:p>
          <a:p>
            <a:r>
              <a:t>because the candidate used their own words is not a usable instrument, and it</a:t>
            </a:r>
          </a:p>
          <a:p>
            <a:r>
              <a:t>would have penalised exactly the candidates the system is meant to serve.</a:t>
            </a:r>
          </a:p>
          <a:p/>
          <a:p>
            <a:r>
              <a:t>I would rather report that as a finding than hide it as a descoping.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six objectives were met, but two were revised mid-project and one carries a</a:t>
            </a:r>
          </a:p>
          <a:p>
            <a:r>
              <a:t>caveat I want to state rather than bury.</a:t>
            </a:r>
          </a:p>
          <a:p/>
          <a:p>
            <a:r>
              <a:t>Objectives one, two and three — the skill graph, graph-driven question targeting,</a:t>
            </a:r>
          </a:p>
          <a:p>
            <a:r>
              <a:t>and the dual-mode interview — were met as specified and are verified by unit tests</a:t>
            </a:r>
          </a:p>
          <a:p>
            <a:r>
              <a:t>and an end-to-end run.</a:t>
            </a:r>
          </a:p>
          <a:p/>
          <a:p>
            <a:r>
              <a:t>Objective four was revised. The original wording specified the dual-track</a:t>
            </a:r>
          </a:p>
          <a:p>
            <a:r>
              <a:t>comparison. It became the bias-mitigated single-scorer pipeline, for the reasons</a:t>
            </a:r>
          </a:p>
          <a:p>
            <a:r>
              <a:t>I have just given.</a:t>
            </a:r>
          </a:p>
          <a:p/>
          <a:p>
            <a:r>
              <a:t>Objective five carries a caveat. The integrity module works and always names the</a:t>
            </a:r>
          </a:p>
          <a:p>
            <a:r>
              <a:t>behaviours behind an adverse verdict — but its baseline is synthetic. It has never</a:t>
            </a:r>
          </a:p>
          <a:p>
            <a:r>
              <a:t>seen a real interview, normal or anomalous, so I cannot quote a false-positive</a:t>
            </a:r>
          </a:p>
          <a:p>
            <a:r>
              <a:t>rate.</a:t>
            </a:r>
          </a:p>
          <a:p/>
          <a:p>
            <a:r>
              <a:t>Objective six was met and then some: five experiments rather than three, plus a</a:t>
            </a:r>
          </a:p>
          <a:p>
            <a:r>
              <a:t>72-test suite. And it did the thing an evaluation is supposed to do — it found two</a:t>
            </a:r>
          </a:p>
          <a:p>
            <a:r>
              <a:t>real defects in my own artefact.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want to state these plainly, because a marker will find them anyway and</a:t>
            </a:r>
          </a:p>
          <a:p>
            <a:r>
              <a:t>declaring a limitation scores better than hiding one.</a:t>
            </a:r>
          </a:p>
          <a:p/>
          <a:p>
            <a:r>
              <a:t>Eighteen answers is a small sample. Every figure I have shown carries a wide</a:t>
            </a:r>
          </a:p>
          <a:p>
            <a:r>
              <a:t>confidence interval. These results establish direction and rough magnitude, not</a:t>
            </a:r>
          </a:p>
          <a:p>
            <a:r>
              <a:t>precision.</a:t>
            </a:r>
          </a:p>
          <a:p/>
          <a:p>
            <a:r>
              <a:t>There were no human raters. My ground truth is an intended quality level, which</a:t>
            </a:r>
          </a:p>
          <a:p>
            <a:r>
              <a:t>is a weaker anchor than expert judgement and blind to any bias that the</a:t>
            </a:r>
          </a:p>
          <a:p>
            <a:r>
              <a:t>specification and the judge happen to share.</a:t>
            </a:r>
          </a:p>
          <a:p/>
          <a:p>
            <a:r>
              <a:t>The answers were machine-written, so cleaner than transcribed speech. That</a:t>
            </a:r>
          </a:p>
          <a:p>
            <a:r>
              <a:t>plausibly explains both the ceiling effect in E1 and the unusually high</a:t>
            </a:r>
          </a:p>
          <a:p>
            <a:r>
              <a:t>consistency in E2.</a:t>
            </a:r>
          </a:p>
          <a:p/>
          <a:p>
            <a:r>
              <a:t>The integrity model has never seen a real interview.</a:t>
            </a:r>
          </a:p>
          <a:p/>
          <a:p>
            <a:r>
              <a:t>And there is an uncomfortable circularity I should name. Avoiding human data</a:t>
            </a:r>
          </a:p>
          <a:p>
            <a:r>
              <a:t>removed the ethical burden of collecting it, and simultaneously removed my</a:t>
            </a:r>
          </a:p>
          <a:p>
            <a:r>
              <a:t>ability to test for the harm that matters most — demographic disparity. A project</a:t>
            </a:r>
          </a:p>
          <a:p>
            <a:r>
              <a:t>of this length can reasonably choose the safer path, but I should not claim the</a:t>
            </a:r>
          </a:p>
          <a:p>
            <a:r>
              <a:t>system has been shown to be fair. It has been shown to be inspectable. That is a</a:t>
            </a:r>
          </a:p>
          <a:p>
            <a:r>
              <a:t>precondition for demonstrating fairness, not a substitute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things, stated modestly.</a:t>
            </a:r>
          </a:p>
          <a:p/>
          <a:p>
            <a:r>
              <a:t>A working platform that integrates skill-graph targeting, dual-transport</a:t>
            </a:r>
          </a:p>
          <a:p>
            <a:r>
              <a:t>interviewing, privacy-preserving in-browser analysis, and a scorer that reports</a:t>
            </a:r>
          </a:p>
          <a:p>
            <a:r>
              <a:t>its own per-answer reliability.</a:t>
            </a:r>
          </a:p>
          <a:p/>
          <a:p>
            <a:r>
              <a:t>An empirical characterisation that separates rank-order validity from absolute</a:t>
            </a:r>
          </a:p>
          <a:p>
            <a:r>
              <a:t>calibration — and quantifies a halo effect that explicit instruction failed to</a:t>
            </a:r>
          </a:p>
          <a:p>
            <a:r>
              <a:t>prevent.</a:t>
            </a:r>
          </a:p>
          <a:p/>
          <a:p>
            <a:r>
              <a:t>A documented negative result on comparing a trained classifier against a</a:t>
            </a:r>
          </a:p>
          <a:p>
            <a:r>
              <a:t>language-model judge when the classifier's labels are model-generated, with the</a:t>
            </a:r>
          </a:p>
          <a:p>
            <a:r>
              <a:t>measurements that demonstrate the failure.</a:t>
            </a:r>
          </a:p>
          <a:p/>
          <a:p>
            <a:r>
              <a:t>And a reusable harness and test suite, so every number I have shown can be</a:t>
            </a:r>
          </a:p>
          <a:p>
            <a:r>
              <a:t>regenerated.</a:t>
            </a:r>
          </a:p>
          <a:p/>
          <a:p>
            <a:r>
              <a:t>The wider claim is modest: transparency is better served by making one scorer</a:t>
            </a:r>
          </a:p>
          <a:p>
            <a:r>
              <a:t>accountable than by adding a second that cannot itself be validated. Redundancy</a:t>
            </a:r>
          </a:p>
          <a:p>
            <a:r>
              <a:t>without independent validation produces the appearance of robustness rather than</a:t>
            </a:r>
          </a:p>
          <a:p>
            <a:r>
              <a:t>robustness.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Ordered by how much each would strengthen the claims.</a:t>
            </a:r>
          </a:p>
          <a:p/>
          <a:p>
            <a:r>
              <a:t>Threshold recalibration is the single change that would most improve the system</a:t>
            </a:r>
          </a:p>
          <a:p>
            <a:r>
              <a:t>as it stands — but it needs a corpus large enough to avoid overfitting.</a:t>
            </a:r>
          </a:p>
          <a:p/>
          <a:p>
            <a:r>
              <a:t>Criterion isolation is the direct structural response to the halo effect: score</a:t>
            </a:r>
          </a:p>
          <a:p>
            <a:r>
              <a:t>each criterion in a separate call so each judgement is formed without sight of</a:t>
            </a:r>
          </a:p>
          <a:p>
            <a:r>
              <a:t>the others. It costs four calls per answer instead of two, and it would tell me</a:t>
            </a:r>
          </a:p>
          <a:p>
            <a:r>
              <a:t>whether the correlation is inherent in the answers or induced by assessing all</a:t>
            </a:r>
          </a:p>
          <a:p>
            <a:r>
              <a:t>four together.</a:t>
            </a:r>
          </a:p>
          <a:p/>
          <a:p>
            <a:r>
              <a:t>A human rating study is the most valuable step for validity — it would replace the</a:t>
            </a:r>
          </a:p>
          <a:p>
            <a:r>
              <a:t>intended-quality anchor with expert judgement and let me test whether the</a:t>
            </a:r>
          </a:p>
          <a:p>
            <a:r>
              <a:t>consistency signal actually predicts the cases where humans and the system</a:t>
            </a:r>
          </a:p>
          <a:p>
            <a:r>
              <a:t>disagree.</a:t>
            </a:r>
          </a:p>
          <a:p/>
          <a:p>
            <a:r>
              <a:t>Then pilot data for the integrity model, and demographic bias testing — which is</a:t>
            </a:r>
          </a:p>
          <a:p>
            <a:r>
              <a:t>the obligation the AI Act imposes and the one this work has not discharged.</a:t>
            </a:r>
          </a:p>
          <a:p/>
          <a:p>
            <a:r>
              <a:t>If I began the project again, the single thing I would change is building the</a:t>
            </a:r>
          </a:p>
          <a:p>
            <a:r>
              <a:t>evaluation harness far earlier. I built for most of the project and measured at</a:t>
            </a:r>
          </a:p>
          <a:p>
            <a:r>
              <a:t>the end, so the classifier's defects went undetected for weeks and the leniency</a:t>
            </a:r>
          </a:p>
          <a:p>
            <a:r>
              <a:t>problem surfaced too late to address properly. Measuring alongside building would</a:t>
            </a:r>
          </a:p>
          <a:p>
            <a:r>
              <a:t>have left time to fix rather than only to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Let me finish where I started.</a:t>
            </a:r>
          </a:p>
          <a:p/>
          <a:p>
            <a:r>
              <a:t>I set out to find whether a system built around a language model could be held</a:t>
            </a:r>
          </a:p>
          <a:p>
            <a:r>
              <a:t>accountable for the reliability of its own judgements. The answer is a qualified</a:t>
            </a:r>
          </a:p>
          <a:p>
            <a:r>
              <a:t>yes — and the qualification is the useful part.</a:t>
            </a:r>
          </a:p>
          <a:p/>
          <a:p>
            <a:r>
              <a:t>The judge ranks answers well and calibrates them badly. My rubric decomposes less</a:t>
            </a:r>
          </a:p>
          <a:p>
            <a:r>
              <a:t>than I designed it to. The escalation mechanism I built never needed to fire on</a:t>
            </a:r>
          </a:p>
          <a:p>
            <a:r>
              <a:t>this corpus.</a:t>
            </a:r>
          </a:p>
          <a:p/>
          <a:p>
            <a:r>
              <a:t>I found all three of those by measuring my own system. A system instrumented to</a:t>
            </a:r>
          </a:p>
          <a:p>
            <a:r>
              <a:t>be examined can be shown to be wrong, and then corrected. I would argue that is</a:t>
            </a:r>
          </a:p>
          <a:p>
            <a:r>
              <a:t>worth more than a higher headline score obtained from a system nobody can</a:t>
            </a:r>
          </a:p>
          <a:p>
            <a:r>
              <a:t>inspect.</a:t>
            </a:r>
          </a:p>
          <a:p/>
          <a:p>
            <a:r>
              <a:t>Thank you. I am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this if asked why I did not recalibrate the thresholds.</a:t>
            </a:r>
          </a:p>
          <a:p/>
          <a:p>
            <a:r>
              <a:t>A clean separator exists between weak and medium answers at about 77 — nearly</a:t>
            </a:r>
          </a:p>
          <a:p>
            <a:r>
              <a:t>double the 40 currently in use. No separator exists between medium and strong,</a:t>
            </a:r>
          </a:p>
          <a:p>
            <a:r>
              <a:t>because those distributions overlap: the highest medium answer scored 96.5 and</a:t>
            </a:r>
          </a:p>
          <a:p>
            <a:r>
              <a:t>the lowest strong answer scored 96.0.</a:t>
            </a:r>
          </a:p>
          <a:p/>
          <a:p>
            <a:r>
              <a:t>I did not change them because eighteen answers is far too small a sample on which</a:t>
            </a:r>
          </a:p>
          <a:p>
            <a:r>
              <a:t>to move a boundary affecting every future candidate. Fitting to this corpus would</a:t>
            </a:r>
          </a:p>
          <a:p>
            <a:r>
              <a:t>be overfitting. What the result establishes is that the current values are</a:t>
            </a:r>
          </a:p>
          <a:p>
            <a:r>
              <a:t>indefensible, not what the correct values 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this if asked how the final recommendation is composed.</a:t>
            </a:r>
          </a:p>
          <a:p/>
          <a:p>
            <a:r>
              <a:t>Answer quality carries half the score because it is the most direct evidence of</a:t>
            </a:r>
          </a:p>
          <a:p>
            <a:r>
              <a:t>competence. Skill coverage a fifth — a CV is weaker evidence than a demonstrated</a:t>
            </a:r>
          </a:p>
          <a:p>
            <a:r>
              <a:t>answer, but it is not nothing. Integrity and engagement fifteen per cent each,</a:t>
            </a:r>
          </a:p>
          <a:p>
            <a:r>
              <a:t>deliberately low, because both rest on inferential signals that are easily</a:t>
            </a:r>
          </a:p>
          <a:p>
            <a:r>
              <a:t>misread.</a:t>
            </a:r>
          </a:p>
          <a:p/>
          <a:p>
            <a:r>
              <a:t>One override exists: integrity below 30 sets the recommendation to disqualified</a:t>
            </a:r>
          </a:p>
          <a:p>
            <a:r>
              <a:t>regardless of the other components. It is the only place a module can override</a:t>
            </a:r>
          </a:p>
          <a:p>
            <a:r>
              <a:t>the others and it is deliberately hard to trigger.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this if asked about data protection or GDPR.</a:t>
            </a:r>
          </a:p>
          <a:p/>
          <a:p>
            <a:r>
              <a:t>Video and audio are analysed in the browser using MediaPipe and the Web Audio</a:t>
            </a:r>
          </a:p>
          <a:p>
            <a:r>
              <a:t>API. Only derived numeric features cross the network — attention and posture</a:t>
            </a:r>
          </a:p>
          <a:p>
            <a:r>
              <a:t>scores, prosodic measures. No biometric data leaves the candidate's device. Under</a:t>
            </a:r>
          </a:p>
          <a:p>
            <a:r>
              <a:t>GDPR that materially reduces the processing footprint.</a:t>
            </a:r>
          </a:p>
          <a:p/>
          <a:p>
            <a:r>
              <a:t>It does not answer the deeper objection that inferring engagement from posture</a:t>
            </a:r>
          </a:p>
          <a:p>
            <a:r>
              <a:t>and gaze is intrusive, and that nervousness and evasion look alike to any such</a:t>
            </a:r>
          </a:p>
          <a:p>
            <a:r>
              <a:t>measure. My mitigations — light weighting, calibrating against the candidate's own</a:t>
            </a:r>
          </a:p>
          <a:p>
            <a:r>
              <a:t>neutral pose rather than an assumed ideal, and reporting as context rather than</a:t>
            </a:r>
          </a:p>
          <a:p>
            <a:r>
              <a:t>finding — reduce the harm without resolving the principle.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this if asked how I know the artefact works.</a:t>
            </a:r>
          </a:p>
          <a:p/>
          <a:p>
            <a:r>
              <a:t>Seventy-two unit tests over the deterministic components — skill matching, gap</a:t>
            </a:r>
          </a:p>
          <a:p>
            <a:r>
              <a:t>analysis, question ordering, transcript pairing, integrity calibration, fusion</a:t>
            </a:r>
          </a:p>
          <a:p>
            <a:r>
              <a:t>arithmetic, state transitions and report assembly. All pass. Two are direct</a:t>
            </a:r>
          </a:p>
          <a:p>
            <a:r>
              <a:t>regressions on the substring-matching failure.</a:t>
            </a:r>
          </a:p>
          <a:p/>
          <a:p>
            <a:r>
              <a:t>Plus an end-to-end run against a synthetic candidate using live model calls at</a:t>
            </a:r>
          </a:p>
          <a:p>
            <a:r>
              <a:t>every stage, asserting that the graph builds, questions are ordered by priority,</a:t>
            </a:r>
          </a:p>
          <a:p>
            <a:r>
              <a:t>logistics exchanges are excluded from scoring, rubric criteria stay in range and</a:t>
            </a:r>
          </a:p>
          <a:p>
            <a:r>
              <a:t>sum to the reported score, and the fusion contributions reconcile with the total.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1417320"/>
            <a:ext cx="2011680" cy="64008"/>
          </a:xfrm>
          <a:prstGeom prst="rect">
            <a:avLst/>
          </a:prstGeom>
          <a:solidFill>
            <a:srgbClr val="B45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1691640"/>
            <a:ext cx="10874959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 i="0">
                <a:solidFill>
                  <a:srgbClr val="1B2733"/>
                </a:solidFill>
                <a:latin typeface="Calibri"/>
              </a:rPr>
              <a:t>An Explainable Multi-Agent</a:t>
            </a:r>
          </a:p>
          <a:p>
            <a:pPr algn="l">
              <a:lnSpc>
                <a:spcPct val="112000"/>
              </a:lnSpc>
            </a:pPr>
            <a:r>
              <a:rPr sz="4400" b="1" i="0">
                <a:solidFill>
                  <a:srgbClr val="1B2733"/>
                </a:solidFill>
                <a:latin typeface="Calibri"/>
              </a:rPr>
              <a:t>AI Interview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337560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5A6B7B"/>
                </a:solidFill>
                <a:latin typeface="Calibri"/>
              </a:rPr>
              <a:t>Skill-graph question targeting and a bias-mitigated</a:t>
            </a:r>
          </a:p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5A6B7B"/>
                </a:solidFill>
                <a:latin typeface="Calibri"/>
              </a:rPr>
              <a:t>LLM-as-Judge evaluation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4526280"/>
            <a:ext cx="10881360" cy="10972"/>
          </a:xfrm>
          <a:prstGeom prst="rect">
            <a:avLst/>
          </a:prstGeom>
          <a:solidFill>
            <a:srgbClr val="D8E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4800600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1B2733"/>
                </a:solidFill>
                <a:latin typeface="Calibri"/>
              </a:rPr>
              <a:t>CMP7200 — Individual Master's Project    ·    Viva Voce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23036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Student Number: [STUDENT NUMBER]    ·    MSc Computer Science    ·    2025–26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9A4415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A score without an account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9A4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48840"/>
            <a:ext cx="3472586" cy="173736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350008"/>
            <a:ext cx="347258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1" i="0">
                <a:solidFill>
                  <a:srgbClr val="9A4415"/>
                </a:solidFill>
                <a:latin typeface="Calibri"/>
              </a:rPr>
              <a:t>2019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990088"/>
            <a:ext cx="317997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EPIC challenges HireVue over unvalidated</a:t>
            </a:r>
          </a:p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facial analysis in candidate scoring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9554" y="2148840"/>
            <a:ext cx="3472586" cy="173736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59554" y="2350008"/>
            <a:ext cx="347258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1" i="0">
                <a:solidFill>
                  <a:srgbClr val="1F4E79"/>
                </a:solidFill>
                <a:latin typeface="Calibri"/>
              </a:rPr>
              <a:t>2024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05858" y="2990088"/>
            <a:ext cx="317997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EU AI Act classifies recruitment as</a:t>
            </a:r>
          </a:p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high-risk: transparency, oversight, bias testing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0740" y="2148840"/>
            <a:ext cx="3472586" cy="173736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0740" y="2350008"/>
            <a:ext cx="347258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1" i="0">
                <a:solidFill>
                  <a:srgbClr val="B4530F"/>
                </a:solidFill>
                <a:latin typeface="Calibri"/>
              </a:rPr>
              <a:t>Unfair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7044" y="2990088"/>
            <a:ext cx="317997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Candidates rate automated interviews as</a:t>
            </a:r>
          </a:p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less fair — worst where no explanation is given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297680"/>
            <a:ext cx="10874959" cy="141732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4608576"/>
            <a:ext cx="1014343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1B2733"/>
                </a:solidFill>
                <a:latin typeface="Calibri"/>
              </a:rPr>
              <a:t>Language models can now hold a structured interview and articulate a judgement.</a:t>
            </a:r>
          </a:p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1B2733"/>
                </a:solidFill>
                <a:latin typeface="Calibri"/>
              </a:rPr>
              <a:t>Whether they can be trusted to grade one is a separate — and much harder — question.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B4530F"/>
                </a:solidFill>
                <a:latin typeface="Calibri"/>
              </a:rPr>
              <a:t>RESEARCH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920240"/>
            <a:ext cx="10874959" cy="27432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920240"/>
            <a:ext cx="82296" cy="2743200"/>
          </a:xfrm>
          <a:prstGeom prst="rect">
            <a:avLst/>
          </a:prstGeom>
          <a:solidFill>
            <a:srgbClr val="B45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2212848"/>
            <a:ext cx="9869119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2500" b="1" i="0">
                <a:solidFill>
                  <a:srgbClr val="1B2733"/>
                </a:solidFill>
                <a:latin typeface="Calibri"/>
              </a:rPr>
              <a:t>Can an LLM-as-Judge evaluation pipeline be made</a:t>
            </a:r>
          </a:p>
          <a:p>
            <a:pPr algn="l">
              <a:lnSpc>
                <a:spcPct val="132000"/>
              </a:lnSpc>
            </a:pPr>
            <a:r>
              <a:rPr sz="2500" b="1" i="0">
                <a:solidFill>
                  <a:srgbClr val="1B2733"/>
                </a:solidFill>
                <a:latin typeface="Calibri"/>
              </a:rPr>
              <a:t>sufficiently reliable and transparent for high-stakes</a:t>
            </a:r>
          </a:p>
          <a:p>
            <a:pPr algn="l">
              <a:lnSpc>
                <a:spcPct val="132000"/>
              </a:lnSpc>
            </a:pPr>
            <a:r>
              <a:rPr sz="2500" b="1" i="0">
                <a:solidFill>
                  <a:srgbClr val="1B2733"/>
                </a:solidFill>
                <a:latin typeface="Calibri"/>
              </a:rPr>
              <a:t>assessment — through rubric-order randomisation,</a:t>
            </a:r>
          </a:p>
          <a:p>
            <a:pPr algn="l">
              <a:lnSpc>
                <a:spcPct val="132000"/>
              </a:lnSpc>
            </a:pPr>
            <a:r>
              <a:rPr sz="2500" b="1" i="0">
                <a:solidFill>
                  <a:srgbClr val="1B2733"/>
                </a:solidFill>
                <a:latin typeface="Calibri"/>
              </a:rPr>
              <a:t>self-consistency measurement, and calibrated</a:t>
            </a:r>
          </a:p>
          <a:p>
            <a:pPr algn="l">
              <a:lnSpc>
                <a:spcPct val="132000"/>
              </a:lnSpc>
            </a:pPr>
            <a:r>
              <a:rPr sz="2500" b="1" i="0">
                <a:solidFill>
                  <a:srgbClr val="1B2733"/>
                </a:solidFill>
                <a:latin typeface="Calibri"/>
              </a:rPr>
              <a:t>escalation to human review?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983480"/>
            <a:ext cx="1087495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1">
                <a:solidFill>
                  <a:srgbClr val="5A6B7B"/>
                </a:solidFill>
                <a:latin typeface="Calibri"/>
              </a:rPr>
              <a:t>Not “can a model grade an answer?” — the literature settles that. The question is whether the system knows when it is unsure.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1F4E79"/>
                </a:solidFill>
                <a:latin typeface="Calibri"/>
              </a:rPr>
              <a:t>WHAT I BUILT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Thirteen modules, four phases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4</a:t>
            </a:r>
          </a:p>
        </p:txBody>
      </p:sp>
      <p:pic>
        <p:nvPicPr>
          <p:cNvPr id="6" name="Picture 5" descr="fig01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3433" y="1965960"/>
            <a:ext cx="5144828" cy="47091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1F4E79"/>
                </a:solidFill>
                <a:latin typeface="Calibri"/>
              </a:rPr>
              <a:t>END TO 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What actually happens in a session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02996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F4E79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52728" y="2029968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B2733"/>
                </a:solidFill>
                <a:latin typeface="Calibri"/>
              </a:rPr>
              <a:t>Upload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01568" y="2048256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B7B"/>
                </a:solidFill>
                <a:latin typeface="Calibri"/>
              </a:rPr>
              <a:t>CV and job advert read into structured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48716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F4E79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2728" y="2487168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B2733"/>
                </a:solidFill>
                <a:latin typeface="Calibri"/>
              </a:rPr>
              <a:t>Match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2505456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B7B"/>
                </a:solidFill>
                <a:latin typeface="Calibri"/>
              </a:rPr>
              <a:t>Skills mapped onto ESCO; gaps identified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94436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F4E79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52728" y="2944368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B2733"/>
                </a:solidFill>
                <a:latin typeface="Calibri"/>
              </a:rPr>
              <a:t>Plan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01568" y="2962656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B7B"/>
                </a:solidFill>
                <a:latin typeface="Calibri"/>
              </a:rPr>
              <a:t>Questions written, missing skills ordered first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40156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E6B4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52728" y="3401568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B2733"/>
                </a:solidFill>
                <a:latin typeface="Calibri"/>
              </a:rPr>
              <a:t>Check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01568" y="3419856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B7B"/>
                </a:solidFill>
                <a:latin typeface="Calibri"/>
              </a:rPr>
              <a:t>Camera and mic; voice or typing; agent pre-warms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385876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E6B4F"/>
                </a:solidFill>
                <a:latin typeface="Calibri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52728" y="3858768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B2733"/>
                </a:solidFill>
                <a:latin typeface="Calibri"/>
              </a:rPr>
              <a:t>Interview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1568" y="3877056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B7B"/>
                </a:solidFill>
                <a:latin typeface="Calibri"/>
              </a:rPr>
              <a:t>Adaptive Q&amp;A; attention and tone measured in-browser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31596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9A4415"/>
                </a:solidFill>
                <a:latin typeface="Calibri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52728" y="4315968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B2733"/>
                </a:solidFill>
                <a:latin typeface="Calibri"/>
              </a:rPr>
              <a:t>Mark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01568" y="4334256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B7B"/>
                </a:solidFill>
                <a:latin typeface="Calibri"/>
              </a:rPr>
              <a:t>Logistics dropped; every real answer scored twice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77316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9A4415"/>
                </a:solidFill>
                <a:latin typeface="Calibri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52728" y="4773168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B2733"/>
                </a:solidFill>
                <a:latin typeface="Calibri"/>
              </a:rPr>
              <a:t>Verify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01568" y="4791456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B7B"/>
                </a:solidFill>
                <a:latin typeface="Calibri"/>
              </a:rPr>
              <a:t>Timing and tab switches checked against a baseline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523036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4C3A8C"/>
                </a:solidFill>
                <a:latin typeface="Calibri"/>
              </a:rPr>
              <a:t>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52728" y="5230368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B2733"/>
                </a:solidFill>
                <a:latin typeface="Calibri"/>
              </a:rPr>
              <a:t>Report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01568" y="5248656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B7B"/>
                </a:solidFill>
                <a:latin typeface="Calibri"/>
              </a:rPr>
              <a:t>Fused into a recommendation, with the working shown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824728"/>
            <a:ext cx="10874959" cy="658368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69848" y="6007608"/>
            <a:ext cx="100519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1B2733"/>
                </a:solidFill>
                <a:latin typeface="Calibri"/>
              </a:rPr>
              <a:t>Voice and text produce an identical transcript — so nothing after the interview knows which mode ran.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1F4E79"/>
                </a:solidFill>
                <a:latin typeface="Calibri"/>
              </a:rPr>
              <a:t>OBJECTIVES 1 AND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Questions aimed at gaps, not at what the CV already proves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6</a:t>
            </a:r>
          </a:p>
        </p:txBody>
      </p:sp>
      <p:pic>
        <p:nvPicPr>
          <p:cNvPr id="6" name="Picture 5" descr="fig03_skillgrap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8971" y="1965960"/>
            <a:ext cx="5773752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9A4415"/>
                </a:solidFill>
                <a:latin typeface="Calibri"/>
              </a:rPr>
              <a:t>THE CONTRIBUTION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The scorer measures its own reliability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9A4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7</a:t>
            </a:r>
          </a:p>
        </p:txBody>
      </p:sp>
      <p:pic>
        <p:nvPicPr>
          <p:cNvPr id="6" name="Picture 5" descr="fig04_evaluation_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3270" y="1965960"/>
            <a:ext cx="6585154" cy="4343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1F4E79"/>
                </a:solidFill>
                <a:latin typeface="Calibri"/>
              </a:rPr>
              <a:t>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Three cycles, each ended by a measurement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8</a:t>
            </a:r>
          </a:p>
        </p:txBody>
      </p:sp>
      <p:pic>
        <p:nvPicPr>
          <p:cNvPr id="6" name="Picture 5" descr="fig07_ds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9716" y="2011680"/>
            <a:ext cx="7572263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1F4E79"/>
                </a:solidFill>
                <a:latin typeface="Calibri"/>
              </a:rPr>
              <a:t>HOW I TESTED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Five controlled experiments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03120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276856"/>
            <a:ext cx="640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F4E79"/>
                </a:solidFill>
                <a:latin typeface="Calibri"/>
              </a:rPr>
              <a:t>E1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18488" y="2276856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1B2733"/>
                </a:solidFill>
                <a:latin typeface="Calibri"/>
              </a:rPr>
              <a:t>Discriminant validity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73168" y="2295144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B7B"/>
                </a:solidFill>
                <a:latin typeface="Calibri"/>
              </a:rPr>
              <a:t>Answer quality varied across three known levels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62288" y="2295144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1F4E79"/>
                </a:solidFill>
                <a:latin typeface="Calibri"/>
              </a:rPr>
              <a:t>Spearman ρ, weighted 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944368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3118104"/>
            <a:ext cx="640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9A4415"/>
                </a:solidFill>
                <a:latin typeface="Calibri"/>
              </a:rPr>
              <a:t>E2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18488" y="3118104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1B2733"/>
                </a:solidFill>
                <a:latin typeface="Calibri"/>
              </a:rPr>
              <a:t>Positional bias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3136392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B7B"/>
                </a:solidFill>
                <a:latin typeface="Calibri"/>
              </a:rPr>
              <a:t>Rubric order permuted, content held constant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62288" y="313639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9A4415"/>
                </a:solidFill>
                <a:latin typeface="Calibri"/>
              </a:rPr>
              <a:t>Wilcoxon, mean spread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785616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3959352"/>
            <a:ext cx="640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E6B4F"/>
                </a:solidFill>
                <a:latin typeface="Calibri"/>
              </a:rPr>
              <a:t>E3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18488" y="395935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1B2733"/>
                </a:solidFill>
                <a:latin typeface="Calibri"/>
              </a:rPr>
              <a:t>Paraphrase invariance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73168" y="39776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B7B"/>
                </a:solidFill>
                <a:latin typeface="Calibri"/>
              </a:rPr>
              <a:t>Wording varied, meaning held constant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62288" y="39776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1E6B4F"/>
                </a:solidFill>
                <a:latin typeface="Calibri"/>
              </a:rPr>
              <a:t>Within-group SD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626864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" y="480060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4C3A8C"/>
                </a:solidFill>
                <a:latin typeface="Calibri"/>
              </a:rPr>
              <a:t>E4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18488" y="48006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1B2733"/>
                </a:solidFill>
                <a:latin typeface="Calibri"/>
              </a:rPr>
              <a:t>Criterion independence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73168" y="4818888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B7B"/>
                </a:solidFill>
                <a:latin typeface="Calibri"/>
              </a:rPr>
              <a:t>Observational across all scored answers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62288" y="4818888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4C3A8C"/>
                </a:solidFill>
                <a:latin typeface="Calibri"/>
              </a:rPr>
              <a:t>Correlation matrix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5468112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" y="5641848"/>
            <a:ext cx="640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B4530F"/>
                </a:solidFill>
                <a:latin typeface="Calibri"/>
              </a:rPr>
              <a:t>E5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18488" y="564184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1B2733"/>
                </a:solidFill>
                <a:latin typeface="Calibri"/>
              </a:rPr>
              <a:t>Verbosity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73168" y="5660136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B7B"/>
                </a:solidFill>
                <a:latin typeface="Calibri"/>
              </a:rPr>
              <a:t>Contentless filler appended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62288" y="5660136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B4530F"/>
                </a:solidFill>
                <a:latin typeface="Calibri"/>
              </a:rPr>
              <a:t>Wilcoxon on pairs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1E6B4F"/>
                </a:solidFill>
                <a:latin typeface="Calibri"/>
              </a:rPr>
              <a:t>FINDING 1  ·  THE GOOD HALF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It ranks answers almost perfectly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1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10</a:t>
            </a:r>
          </a:p>
        </p:txBody>
      </p:sp>
      <p:pic>
        <p:nvPicPr>
          <p:cNvPr id="6" name="Picture 5" descr="e1_discriminant_valid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4458" y="2057400"/>
            <a:ext cx="6002778" cy="26517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58368" y="4892040"/>
            <a:ext cx="2547289" cy="14630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5093208"/>
            <a:ext cx="254728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1E6B4F"/>
                </a:solidFill>
                <a:latin typeface="Calibri"/>
              </a:rPr>
              <a:t>0.920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5733288"/>
            <a:ext cx="2254681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5A6B7B"/>
                </a:solidFill>
                <a:latin typeface="Calibri"/>
              </a:rPr>
              <a:t>Spearman's ρ</a:t>
            </a:r>
          </a:p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5A6B7B"/>
                </a:solidFill>
                <a:latin typeface="Calibri"/>
              </a:rPr>
              <a:t>against intended quality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34257" y="4892040"/>
            <a:ext cx="2547289" cy="14630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34257" y="5093208"/>
            <a:ext cx="254728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1E6B4F"/>
                </a:solidFill>
                <a:latin typeface="Calibri"/>
              </a:rPr>
              <a:t>p &lt; 0.001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80561" y="5733288"/>
            <a:ext cx="2254681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5A6B7B"/>
                </a:solidFill>
                <a:latin typeface="Calibri"/>
              </a:rPr>
              <a:t>significance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0147" y="4892040"/>
            <a:ext cx="2547289" cy="14630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0147" y="5093208"/>
            <a:ext cx="254728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1E6B4F"/>
                </a:solidFill>
                <a:latin typeface="Calibri"/>
              </a:rPr>
              <a:t>2.98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6451" y="5733288"/>
            <a:ext cx="2254681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5A6B7B"/>
                </a:solidFill>
                <a:latin typeface="Calibri"/>
              </a:rPr>
              <a:t>Cohen's d</a:t>
            </a:r>
          </a:p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5A6B7B"/>
                </a:solidFill>
                <a:latin typeface="Calibri"/>
              </a:rPr>
              <a:t>strong vs weak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86037" y="4892040"/>
            <a:ext cx="2547289" cy="14630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86037" y="5093208"/>
            <a:ext cx="254728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5A6B7B"/>
                </a:solidFill>
                <a:latin typeface="Calibri"/>
              </a:rPr>
              <a:t>18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32341" y="5733288"/>
            <a:ext cx="2254681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5A6B7B"/>
                </a:solidFill>
                <a:latin typeface="Calibri"/>
              </a:rPr>
              <a:t>answers scored</a:t>
            </a:r>
          </a:p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5A6B7B"/>
                </a:solidFill>
                <a:latin typeface="Calibri"/>
              </a:rPr>
              <a:t>under both orderings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9A4415"/>
                </a:solidFill>
                <a:latin typeface="Calibri"/>
              </a:rPr>
              <a:t>FINDING 1  ·  THE DEFECT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…and calibrates them badly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9A4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03120"/>
            <a:ext cx="6035040" cy="27432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304288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5A6B7B"/>
                </a:solidFill>
                <a:latin typeface="Calibri"/>
              </a:rPr>
              <a:t>Mean score by intended quality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816352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B2733"/>
                </a:solidFill>
                <a:latin typeface="Calibri"/>
              </a:rPr>
              <a:t>Weak</a:t>
            </a:r>
          </a:p>
        </p:txBody>
      </p:sp>
      <p:sp>
        <p:nvSpPr>
          <p:cNvPr id="9" name="Rectangle 8"/>
          <p:cNvSpPr/>
          <p:nvPr/>
        </p:nvSpPr>
        <p:spPr>
          <a:xfrm>
            <a:off x="2304288" y="2916936"/>
            <a:ext cx="1647748" cy="201168"/>
          </a:xfrm>
          <a:prstGeom prst="rect">
            <a:avLst/>
          </a:prstGeom>
          <a:solidFill>
            <a:srgbClr val="9A4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96128" y="2816352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9A4415"/>
                </a:solidFill>
                <a:latin typeface="Calibri"/>
              </a:rPr>
              <a:t>53.0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3438144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B2733"/>
                </a:solidFill>
                <a:latin typeface="Calibri"/>
              </a:rPr>
              <a:t>Medium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04288" y="3538728"/>
            <a:ext cx="2883560" cy="201168"/>
          </a:xfrm>
          <a:prstGeom prst="rect">
            <a:avLst/>
          </a:prstGeom>
          <a:solidFill>
            <a:srgbClr val="B45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96128" y="343814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B4530F"/>
                </a:solidFill>
                <a:latin typeface="Calibri"/>
              </a:rPr>
              <a:t>92.8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4059936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B2733"/>
                </a:solidFill>
                <a:latin typeface="Calibri"/>
              </a:rPr>
              <a:t>Strong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04288" y="4160520"/>
            <a:ext cx="3054553" cy="201168"/>
          </a:xfrm>
          <a:prstGeom prst="rect">
            <a:avLst/>
          </a:prstGeom>
          <a:solidFill>
            <a:srgbClr val="1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96128" y="4059936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E6B4F"/>
                </a:solidFill>
                <a:latin typeface="Calibri"/>
              </a:rPr>
              <a:t>98.2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80560" y="2761488"/>
            <a:ext cx="20116" cy="1828800"/>
          </a:xfrm>
          <a:prstGeom prst="rect">
            <a:avLst/>
          </a:prstGeom>
          <a:solidFill>
            <a:srgbClr val="1B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434340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B2733"/>
                </a:solidFill>
                <a:latin typeface="Calibri"/>
              </a:rPr>
              <a:t>system's 70-point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B2733"/>
                </a:solidFill>
                <a:latin typeface="Calibri"/>
              </a:rPr>
              <a:t>“strong” threshold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59168" y="2103120"/>
            <a:ext cx="4474159" cy="2743200"/>
          </a:xfrm>
          <a:prstGeom prst="roundRect">
            <a:avLst>
              <a:gd name="adj" fmla="val 6000"/>
            </a:avLst>
          </a:prstGeom>
          <a:solidFill>
            <a:srgbClr val="FB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24928" y="2423160"/>
            <a:ext cx="42062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 i="0">
                <a:solidFill>
                  <a:srgbClr val="9A4415"/>
                </a:solidFill>
                <a:latin typeface="Calibri"/>
              </a:rPr>
              <a:t>Medium and strong answers</a:t>
            </a:r>
          </a:p>
          <a:p>
            <a:pPr algn="l">
              <a:lnSpc>
                <a:spcPct val="125000"/>
              </a:lnSpc>
            </a:pPr>
            <a:r>
              <a:rPr sz="2200" b="1" i="0">
                <a:solidFill>
                  <a:srgbClr val="9A4415"/>
                </a:solidFill>
                <a:latin typeface="Calibri"/>
              </a:rPr>
              <a:t>receive the same verdict.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24928" y="3611880"/>
            <a:ext cx="42062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B2733"/>
                </a:solidFill>
                <a:latin typeface="Calibri"/>
              </a:rPr>
              <a:t>Exact band agreement   38.9%</a:t>
            </a:r>
          </a:p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B2733"/>
                </a:solidFill>
                <a:latin typeface="Calibri"/>
              </a:rPr>
              <a:t>Quadratic weighted κ   0.560</a:t>
            </a:r>
          </a:p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B2733"/>
                </a:solidFill>
                <a:latin typeface="Calibri"/>
              </a:rPr>
              <a:t>Medium range   86.5 – 96.5</a:t>
            </a:r>
          </a:p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B2733"/>
                </a:solidFill>
                <a:latin typeface="Calibri"/>
              </a:rPr>
              <a:t>Strong range   96.0 – 100.0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12064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B2733"/>
                </a:solidFill>
                <a:latin typeface="Calibri"/>
              </a:rPr>
              <a:t>The instrument is comparative, not absolute — and the artefact was presenting it as absolute.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4C3A8C"/>
                </a:solidFill>
                <a:latin typeface="Calibri"/>
              </a:rPr>
              <a:t>FINDING 2  ·  HALO EFFECT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The rubric does not decompose as designed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4C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12</a:t>
            </a:r>
          </a:p>
        </p:txBody>
      </p:sp>
      <p:pic>
        <p:nvPicPr>
          <p:cNvPr id="6" name="Picture 5" descr="e4_criterion_correl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011680"/>
            <a:ext cx="3811782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35040" y="2240280"/>
            <a:ext cx="2743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5400" b="1" i="0">
                <a:solidFill>
                  <a:srgbClr val="4C3A8C"/>
                </a:solidFill>
                <a:latin typeface="Calibri"/>
              </a:rPr>
              <a:t>0.846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315468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5A6B7B"/>
                </a:solidFill>
                <a:latin typeface="Calibri"/>
              </a:rPr>
              <a:t>mean inter-criterion correlation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0" y="3867912"/>
            <a:ext cx="146304" cy="50292"/>
          </a:xfrm>
          <a:prstGeom prst="rect">
            <a:avLst/>
          </a:prstGeom>
          <a:solidFill>
            <a:srgbClr val="4C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45936" y="3749040"/>
            <a:ext cx="5175504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600" b="1">
                <a:solidFill>
                  <a:srgbClr val="4C3A8C"/>
                </a:solidFill>
                <a:latin typeface="Calibri"/>
              </a:rPr>
              <a:t>Range  </a:t>
            </a:r>
            <a:r>
              <a:rPr sz="1600">
                <a:solidFill>
                  <a:srgbClr val="1B2733"/>
                </a:solidFill>
                <a:latin typeface="Calibri"/>
              </a:rPr>
              <a:t>0.744 to 0.928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4309018"/>
            <a:ext cx="146304" cy="50292"/>
          </a:xfrm>
          <a:prstGeom prst="rect">
            <a:avLst/>
          </a:prstGeom>
          <a:solidFill>
            <a:srgbClr val="4C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45936" y="4190146"/>
            <a:ext cx="5175504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600" b="1">
                <a:solidFill>
                  <a:srgbClr val="4C3A8C"/>
                </a:solidFill>
                <a:latin typeface="Calibri"/>
              </a:rPr>
              <a:t>Instructed  </a:t>
            </a:r>
            <a:r>
              <a:rPr sz="1600">
                <a:solidFill>
                  <a:srgbClr val="1B2733"/>
                </a:solidFill>
                <a:latin typeface="Calibri"/>
              </a:rPr>
              <a:t>to score the four criteria independently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4750124"/>
            <a:ext cx="146304" cy="50292"/>
          </a:xfrm>
          <a:prstGeom prst="rect">
            <a:avLst/>
          </a:prstGeom>
          <a:solidFill>
            <a:srgbClr val="4C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4631252"/>
            <a:ext cx="5175504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600" b="1">
                <a:solidFill>
                  <a:srgbClr val="4C3A8C"/>
                </a:solidFill>
                <a:latin typeface="Calibri"/>
              </a:rPr>
              <a:t>Observed  </a:t>
            </a:r>
            <a:r>
              <a:rPr sz="1600">
                <a:solidFill>
                  <a:srgbClr val="1B2733"/>
                </a:solidFill>
                <a:latin typeface="Calibri"/>
              </a:rPr>
              <a:t>one impression, distributed across four marks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5191230"/>
            <a:ext cx="146304" cy="50292"/>
          </a:xfrm>
          <a:prstGeom prst="rect">
            <a:avLst/>
          </a:prstGeom>
          <a:solidFill>
            <a:srgbClr val="4C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5072358"/>
            <a:ext cx="5175504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600" b="1">
                <a:solidFill>
                  <a:srgbClr val="4C3A8C"/>
                </a:solidFill>
                <a:latin typeface="Calibri"/>
              </a:rPr>
              <a:t>Response  </a:t>
            </a:r>
            <a:r>
              <a:rPr sz="1600">
                <a:solidFill>
                  <a:srgbClr val="1B2733"/>
                </a:solidFill>
                <a:latin typeface="Calibri"/>
              </a:rPr>
              <a:t>score each criterion in a separate call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5A6B7B"/>
                </a:solidFill>
                <a:latin typeface="Calibri"/>
              </a:rPr>
              <a:t>FINDING 3  ·  THE ESCALATION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An honest null result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5A6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48840"/>
            <a:ext cx="2547289" cy="16002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350008"/>
            <a:ext cx="254728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1" i="0">
                <a:solidFill>
                  <a:srgbClr val="1F4E79"/>
                </a:solidFill>
                <a:latin typeface="Calibri"/>
              </a:rPr>
              <a:t>2.22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990088"/>
            <a:ext cx="2254681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5A6B7B"/>
                </a:solidFill>
                <a:latin typeface="Calibri"/>
              </a:rPr>
              <a:t>mean spread between</a:t>
            </a:r>
          </a:p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5A6B7B"/>
                </a:solidFill>
                <a:latin typeface="Calibri"/>
              </a:rPr>
              <a:t>rubric orderings (points)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34257" y="2148840"/>
            <a:ext cx="2547289" cy="16002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34257" y="2350008"/>
            <a:ext cx="254728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1" i="0">
                <a:solidFill>
                  <a:srgbClr val="1E6B4F"/>
                </a:solidFill>
                <a:latin typeface="Calibri"/>
              </a:rPr>
              <a:t>17/18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80561" y="2990088"/>
            <a:ext cx="2254681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5A6B7B"/>
                </a:solidFill>
                <a:latin typeface="Calibri"/>
              </a:rPr>
              <a:t>answers in the</a:t>
            </a:r>
          </a:p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5A6B7B"/>
                </a:solidFill>
                <a:latin typeface="Calibri"/>
              </a:rPr>
              <a:t>high-consistency band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148840"/>
            <a:ext cx="2547289" cy="16002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0147" y="2350008"/>
            <a:ext cx="254728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1" i="0">
                <a:solidFill>
                  <a:srgbClr val="5A6B7B"/>
                </a:solidFill>
                <a:latin typeface="Calibri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6451" y="2990088"/>
            <a:ext cx="2254681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5A6B7B"/>
                </a:solidFill>
                <a:latin typeface="Calibri"/>
              </a:rPr>
              <a:t>answers escalated to</a:t>
            </a:r>
          </a:p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5A6B7B"/>
                </a:solidFill>
                <a:latin typeface="Calibri"/>
              </a:rPr>
              <a:t>human review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86037" y="2148840"/>
            <a:ext cx="2547289" cy="16002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86037" y="2350008"/>
            <a:ext cx="254728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1" i="0">
                <a:solidFill>
                  <a:srgbClr val="5A6B7B"/>
                </a:solidFill>
                <a:latin typeface="Calibri"/>
              </a:rPr>
              <a:t>p = 0.067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32341" y="2990088"/>
            <a:ext cx="2254681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5A6B7B"/>
                </a:solidFill>
                <a:latin typeface="Calibri"/>
              </a:rPr>
              <a:t>Wilcoxon — no systematic</a:t>
            </a:r>
          </a:p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5A6B7B"/>
                </a:solidFill>
                <a:latin typeface="Calibri"/>
              </a:rPr>
              <a:t>order effect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114800"/>
            <a:ext cx="10874959" cy="210312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9848" y="43891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B2733"/>
                </a:solidFill>
                <a:latin typeface="Calibri"/>
              </a:rPr>
              <a:t>Two readings, and my data cannot separate them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9848" y="5010912"/>
            <a:ext cx="146304" cy="50292"/>
          </a:xfrm>
          <a:prstGeom prst="rect">
            <a:avLst/>
          </a:prstGeom>
          <a:solidFill>
            <a:srgbClr val="5A6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80744" y="4892040"/>
            <a:ext cx="10296144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500">
                <a:solidFill>
                  <a:srgbClr val="1B2733"/>
                </a:solidFill>
                <a:latin typeface="Calibri"/>
              </a:rPr>
              <a:t>The countermeasure works, and averaging two orderings is doing its job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69848" y="5452018"/>
            <a:ext cx="146304" cy="50292"/>
          </a:xfrm>
          <a:prstGeom prst="rect">
            <a:avLst/>
          </a:prstGeom>
          <a:solidFill>
            <a:srgbClr val="5A6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80744" y="5333146"/>
            <a:ext cx="10296144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500">
                <a:solidFill>
                  <a:srgbClr val="1B2733"/>
                </a:solidFill>
                <a:latin typeface="Calibri"/>
              </a:rPr>
              <a:t>Machine-written answers are unusually easy to score consistently, and real speech would differ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69848" y="5893124"/>
            <a:ext cx="146304" cy="50292"/>
          </a:xfrm>
          <a:prstGeom prst="rect">
            <a:avLst/>
          </a:prstGeom>
          <a:solidFill>
            <a:srgbClr val="5A6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80744" y="5774252"/>
            <a:ext cx="10296144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500">
                <a:solidFill>
                  <a:srgbClr val="1B2733"/>
                </a:solidFill>
                <a:latin typeface="Calibri"/>
              </a:rPr>
              <a:t>Weak evidence for the second: in a realistic session, the one partial answer drew a 10-point spread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B4530F"/>
                </a:solidFill>
                <a:latin typeface="Calibri"/>
              </a:rPr>
              <a:t>DEVIATION FROM THE PROPOSAL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I built a second scorer, measured it, and rejected it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B45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03120"/>
            <a:ext cx="5760720" cy="32004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359152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B2733"/>
                </a:solidFill>
                <a:latin typeface="Calibri"/>
              </a:rPr>
              <a:t>Why the comparison could not work</a:t>
            </a:r>
          </a:p>
        </p:txBody>
      </p:sp>
      <p:sp>
        <p:nvSpPr>
          <p:cNvPr id="8" name="Rectangle 7"/>
          <p:cNvSpPr/>
          <p:nvPr/>
        </p:nvSpPr>
        <p:spPr>
          <a:xfrm>
            <a:off x="1024128" y="2999232"/>
            <a:ext cx="146304" cy="50292"/>
          </a:xfrm>
          <a:prstGeom prst="rect">
            <a:avLst/>
          </a:prstGeom>
          <a:solidFill>
            <a:srgbClr val="B45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35024" y="2880360"/>
            <a:ext cx="4718304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500" b="1">
                <a:solidFill>
                  <a:srgbClr val="B4530F"/>
                </a:solidFill>
                <a:latin typeface="Calibri"/>
              </a:rPr>
              <a:t>Circular  </a:t>
            </a:r>
            <a:r>
              <a:rPr sz="1500">
                <a:solidFill>
                  <a:srgbClr val="1B2733"/>
                </a:solidFill>
                <a:latin typeface="Calibri"/>
              </a:rPr>
              <a:t>the classifier's labels were themselves LLM-generated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24128" y="3440338"/>
            <a:ext cx="146304" cy="50292"/>
          </a:xfrm>
          <a:prstGeom prst="rect">
            <a:avLst/>
          </a:prstGeom>
          <a:solidFill>
            <a:srgbClr val="B45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35024" y="3321466"/>
            <a:ext cx="4718304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500" b="1">
                <a:solidFill>
                  <a:srgbClr val="B4530F"/>
                </a:solidFill>
                <a:latin typeface="Calibri"/>
              </a:rPr>
              <a:t>Unanchored  </a:t>
            </a:r>
            <a:r>
              <a:rPr sz="1500">
                <a:solidFill>
                  <a:srgbClr val="1B2733"/>
                </a:solidFill>
                <a:latin typeface="Calibri"/>
              </a:rPr>
              <a:t>no human gold standard was obtainable in the timeline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" y="3881444"/>
            <a:ext cx="146304" cy="50292"/>
          </a:xfrm>
          <a:prstGeom prst="rect">
            <a:avLst/>
          </a:prstGeom>
          <a:solidFill>
            <a:srgbClr val="B45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35024" y="3762572"/>
            <a:ext cx="4718304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500" b="1">
                <a:solidFill>
                  <a:srgbClr val="B4530F"/>
                </a:solidFill>
                <a:latin typeface="Calibri"/>
              </a:rPr>
              <a:t>Broken  </a:t>
            </a:r>
            <a:r>
              <a:rPr sz="1500">
                <a:solidFill>
                  <a:srgbClr val="1B2733"/>
                </a:solidFill>
                <a:latin typeface="Calibri"/>
              </a:rPr>
              <a:t>a data leak put 0.543 of the model on one feature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4590288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1">
                <a:solidFill>
                  <a:srgbClr val="5A6B7B"/>
                </a:solidFill>
                <a:latin typeface="Calibri"/>
              </a:rPr>
              <a:t>Removed. Objectives 4 and 6 rewritten around establishing</a:t>
            </a:r>
          </a:p>
          <a:p>
            <a:pPr algn="l">
              <a:lnSpc>
                <a:spcPct val="130000"/>
              </a:lnSpc>
            </a:pPr>
            <a:r>
              <a:rPr sz="1400" b="0" i="1">
                <a:solidFill>
                  <a:srgbClr val="5A6B7B"/>
                </a:solidFill>
                <a:latin typeface="Calibri"/>
              </a:rPr>
              <a:t>the reliability of a single scorer instead.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84848" y="2103120"/>
            <a:ext cx="4748479" cy="3200400"/>
          </a:xfrm>
          <a:prstGeom prst="roundRect">
            <a:avLst>
              <a:gd name="adj" fmla="val 6000"/>
            </a:avLst>
          </a:prstGeom>
          <a:solidFill>
            <a:srgbClr val="FB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50608" y="235915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9A4415"/>
                </a:solidFill>
                <a:latin typeface="Calibri"/>
              </a:rPr>
              <a:t>The probe that settled 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50608" y="292608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1B2733"/>
                </a:solidFill>
                <a:latin typeface="Calibri"/>
              </a:rPr>
              <a:t>Identical to the reference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68128" y="292608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B4530F"/>
                </a:solidFill>
                <a:latin typeface="Calibri"/>
              </a:rPr>
              <a:t>64.7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73968" y="2962656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weak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50608" y="361188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1B2733"/>
                </a:solidFill>
                <a:latin typeface="Calibri"/>
              </a:rPr>
              <a:t>Correct paraphrase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68128" y="361188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9A4415"/>
                </a:solidFill>
                <a:latin typeface="Calibri"/>
              </a:rPr>
              <a:t>39.2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3968" y="3648456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gap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0608" y="429768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1B2733"/>
                </a:solidFill>
                <a:latin typeface="Calibri"/>
              </a:rPr>
              <a:t>Deliberately vague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68128" y="429768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5A6B7B"/>
                </a:solidFill>
                <a:latin typeface="Calibri"/>
              </a:rPr>
              <a:t>29.5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73968" y="4334256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gap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0608" y="4709160"/>
            <a:ext cx="47548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9A4415"/>
                </a:solidFill>
                <a:latin typeface="Calibri"/>
              </a:rPr>
              <a:t>A correct answer, in the candidate's own words,</a:t>
            </a:r>
          </a:p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9A4415"/>
                </a:solidFill>
                <a:latin typeface="Calibri"/>
              </a:rPr>
              <a:t>classified as a skill gap.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1F4E79"/>
                </a:solidFill>
                <a:latin typeface="Calibri"/>
              </a:rPr>
              <a:t>ACHIEVEMENT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Six objectives, honestly assessed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057400"/>
            <a:ext cx="10874959" cy="6400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2185416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E6B4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35608" y="21945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B2733"/>
                </a:solidFill>
                <a:latin typeface="Calibri"/>
              </a:rPr>
              <a:t>Skill graph and gap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84648" y="2212848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E6B4F"/>
                </a:solidFill>
                <a:latin typeface="Calibri"/>
              </a:rPr>
              <a:t>Met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13448" y="2221992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1,201 ESCO concepts, four-stage cascade, regression-tested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807208"/>
            <a:ext cx="10874959" cy="6400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2935224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E6B4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35608" y="294436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B2733"/>
                </a:solidFill>
                <a:latin typeface="Calibri"/>
              </a:rPr>
              <a:t>Graph-driven question targeting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84648" y="2962656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E6B4F"/>
                </a:solidFill>
                <a:latin typeface="Calibri"/>
              </a:rPr>
              <a:t>Met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13448" y="297180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Technical questions re-sorted by graph priority before the interview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557016"/>
            <a:ext cx="10874959" cy="6400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68503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E6B4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35608" y="369417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B2733"/>
                </a:solidFill>
                <a:latin typeface="Calibri"/>
              </a:rPr>
              <a:t>Voice and text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84648" y="3712464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E6B4F"/>
                </a:solidFill>
                <a:latin typeface="Calibri"/>
              </a:rPr>
              <a:t>Met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3448" y="3721608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WebRTC voice with provider fallback; text mode, identical transcript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306824"/>
            <a:ext cx="10874959" cy="6400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0976" y="44348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B4530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35608" y="444398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B2733"/>
                </a:solidFill>
                <a:latin typeface="Calibri"/>
              </a:rPr>
              <a:t>Bias-mitigated evaluation pipeline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84648" y="4462272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B4530F"/>
                </a:solidFill>
                <a:latin typeface="Calibri"/>
              </a:rPr>
              <a:t>Met, revised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13448" y="4471416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Permuted orderings, self-consistency, escalation — original wording revised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5056632"/>
            <a:ext cx="10874959" cy="6400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976" y="518464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B4530F"/>
                </a:solidFill>
                <a:latin typeface="Calibr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35608" y="519379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B2733"/>
                </a:solidFill>
                <a:latin typeface="Calibri"/>
              </a:rPr>
              <a:t>Behavioural integrity detection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84648" y="521208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B4530F"/>
                </a:solidFill>
                <a:latin typeface="Calibri"/>
              </a:rPr>
              <a:t>Met, with caveat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13448" y="5221224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Calibrated and always explained — but the baseline is synthetic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806440"/>
            <a:ext cx="10874959" cy="6400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50976" y="5934456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E6B4F"/>
                </a:solidFill>
                <a:latin typeface="Calibri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35608" y="59436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B2733"/>
                </a:solidFill>
                <a:latin typeface="Calibri"/>
              </a:rPr>
              <a:t>Controlled evaluation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84648" y="5961888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E6B4F"/>
                </a:solidFill>
                <a:latin typeface="Calibri"/>
              </a:rPr>
              <a:t>Met, revised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13448" y="5971032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Five experiments, 72 tests — and it found two real defects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9A4415"/>
                </a:solidFill>
                <a:latin typeface="Calibri"/>
              </a:rP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What this work does not establish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9A4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16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267712"/>
            <a:ext cx="146304" cy="50292"/>
          </a:xfrm>
          <a:prstGeom prst="rect">
            <a:avLst/>
          </a:prstGeom>
          <a:solidFill>
            <a:srgbClr val="9A4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2148840"/>
            <a:ext cx="5084064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600" b="1">
                <a:solidFill>
                  <a:srgbClr val="9A4415"/>
                </a:solidFill>
                <a:latin typeface="Calibri"/>
              </a:rPr>
              <a:t>Sample size  </a:t>
            </a:r>
            <a:r>
              <a:rPr sz="1600">
                <a:solidFill>
                  <a:srgbClr val="1B2733"/>
                </a:solidFill>
                <a:latin typeface="Calibri"/>
              </a:rPr>
              <a:t>18 graded answers — direction, not precision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708818"/>
            <a:ext cx="146304" cy="50292"/>
          </a:xfrm>
          <a:prstGeom prst="rect">
            <a:avLst/>
          </a:prstGeom>
          <a:solidFill>
            <a:srgbClr val="9A4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" y="2589946"/>
            <a:ext cx="5084064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600" b="1">
                <a:solidFill>
                  <a:srgbClr val="9A4415"/>
                </a:solidFill>
                <a:latin typeface="Calibri"/>
              </a:rPr>
              <a:t>No human raters  </a:t>
            </a:r>
            <a:r>
              <a:rPr sz="1600">
                <a:solidFill>
                  <a:srgbClr val="1B2733"/>
                </a:solidFill>
                <a:latin typeface="Calibri"/>
              </a:rPr>
              <a:t>ground truth is an intended quality level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149924"/>
            <a:ext cx="146304" cy="50292"/>
          </a:xfrm>
          <a:prstGeom prst="rect">
            <a:avLst/>
          </a:prstGeom>
          <a:solidFill>
            <a:srgbClr val="9A4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" y="3031052"/>
            <a:ext cx="5084064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600" b="1">
                <a:solidFill>
                  <a:srgbClr val="9A4415"/>
                </a:solidFill>
                <a:latin typeface="Calibri"/>
              </a:rPr>
              <a:t>Machine-written data  </a:t>
            </a:r>
            <a:r>
              <a:rPr sz="1600">
                <a:solidFill>
                  <a:srgbClr val="1B2733"/>
                </a:solidFill>
                <a:latin typeface="Calibri"/>
              </a:rPr>
              <a:t>cleaner than transcribed speech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591030"/>
            <a:ext cx="146304" cy="50292"/>
          </a:xfrm>
          <a:prstGeom prst="rect">
            <a:avLst/>
          </a:prstGeom>
          <a:solidFill>
            <a:srgbClr val="9A4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3472158"/>
            <a:ext cx="5084064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600" b="1">
                <a:solidFill>
                  <a:srgbClr val="9A4415"/>
                </a:solidFill>
                <a:latin typeface="Calibri"/>
              </a:rPr>
              <a:t>Synthetic baseline  </a:t>
            </a:r>
            <a:r>
              <a:rPr sz="1600">
                <a:solidFill>
                  <a:srgbClr val="1B2733"/>
                </a:solidFill>
                <a:latin typeface="Calibri"/>
              </a:rPr>
              <a:t>no false-positive rate for integrity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19088" y="2267712"/>
            <a:ext cx="146304" cy="50292"/>
          </a:xfrm>
          <a:prstGeom prst="rect">
            <a:avLst/>
          </a:prstGeom>
          <a:solidFill>
            <a:srgbClr val="9A4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29984" y="2148840"/>
            <a:ext cx="4809744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600" b="1">
                <a:solidFill>
                  <a:srgbClr val="9A4415"/>
                </a:solidFill>
                <a:latin typeface="Calibri"/>
              </a:rPr>
              <a:t>No criterion validity  </a:t>
            </a:r>
            <a:r>
              <a:rPr sz="1600">
                <a:solidFill>
                  <a:srgbClr val="1B2733"/>
                </a:solidFill>
                <a:latin typeface="Calibri"/>
              </a:rPr>
              <a:t>no claim that scores predict job performance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19088" y="2708818"/>
            <a:ext cx="146304" cy="50292"/>
          </a:xfrm>
          <a:prstGeom prst="rect">
            <a:avLst/>
          </a:prstGeom>
          <a:solidFill>
            <a:srgbClr val="9A4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29984" y="2589946"/>
            <a:ext cx="4809744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600" b="1">
                <a:solidFill>
                  <a:srgbClr val="9A4415"/>
                </a:solidFill>
                <a:latin typeface="Calibri"/>
              </a:rPr>
              <a:t>Single session  </a:t>
            </a:r>
            <a:r>
              <a:rPr sz="1600">
                <a:solidFill>
                  <a:srgbClr val="1B2733"/>
                </a:solidFill>
                <a:latin typeface="Calibri"/>
              </a:rPr>
              <a:t>in-memory state, one interview at a time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19088" y="3149924"/>
            <a:ext cx="146304" cy="50292"/>
          </a:xfrm>
          <a:prstGeom prst="rect">
            <a:avLst/>
          </a:prstGeom>
          <a:solidFill>
            <a:srgbClr val="9A4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29984" y="3031052"/>
            <a:ext cx="4809744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600" b="1">
                <a:solidFill>
                  <a:srgbClr val="9A4415"/>
                </a:solidFill>
                <a:latin typeface="Calibri"/>
              </a:rPr>
              <a:t>Research posture  </a:t>
            </a:r>
            <a:r>
              <a:rPr sz="1600">
                <a:solidFill>
                  <a:srgbClr val="1B2733"/>
                </a:solidFill>
                <a:latin typeface="Calibri"/>
              </a:rPr>
              <a:t>no auth, transcripts stored unencrypted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19088" y="3591030"/>
            <a:ext cx="146304" cy="50292"/>
          </a:xfrm>
          <a:prstGeom prst="rect">
            <a:avLst/>
          </a:prstGeom>
          <a:solidFill>
            <a:srgbClr val="9A4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29984" y="3472158"/>
            <a:ext cx="4809744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600" b="1">
                <a:solidFill>
                  <a:srgbClr val="9A4415"/>
                </a:solidFill>
                <a:latin typeface="Calibri"/>
              </a:rPr>
              <a:t>External dependency  </a:t>
            </a:r>
            <a:r>
              <a:rPr sz="1600">
                <a:solidFill>
                  <a:srgbClr val="1B2733"/>
                </a:solidFill>
                <a:latin typeface="Calibri"/>
              </a:rPr>
              <a:t>a model was retired mid-evaluation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029200"/>
            <a:ext cx="10874959" cy="1371600"/>
          </a:xfrm>
          <a:prstGeom prst="roundRect">
            <a:avLst>
              <a:gd name="adj" fmla="val 6000"/>
            </a:avLst>
          </a:prstGeom>
          <a:solidFill>
            <a:srgbClr val="FB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9848" y="5321808"/>
            <a:ext cx="1005199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9A4415"/>
                </a:solidFill>
                <a:latin typeface="Calibri"/>
              </a:rPr>
              <a:t>Avoiding human data removed the ethical burden of collecting it — and with it my ability to test for</a:t>
            </a:r>
          </a:p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9A4415"/>
                </a:solidFill>
                <a:latin typeface="Calibri"/>
              </a:rPr>
              <a:t>demographic disparity. The system is shown to be inspectable, not shown to be fair.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1E6B4F"/>
                </a:solidFill>
                <a:latin typeface="Calibri"/>
              </a:rPr>
              <a:t>CONTRIBUTIONS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What this project contributes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1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94560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194560"/>
            <a:ext cx="64008" cy="89611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" y="2322576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F4E79"/>
                </a:solidFill>
                <a:latin typeface="Calibri"/>
              </a:rPr>
              <a:t>A working artefact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7488" y="2313432"/>
            <a:ext cx="64008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0">
                <a:solidFill>
                  <a:srgbClr val="1B2733"/>
                </a:solidFill>
                <a:latin typeface="Calibri"/>
              </a:rPr>
              <a:t>Skill-graph targeting, dual-transport interview, in-browser behavioural analysis, and a scorer that reports its own reliability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218688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3218688"/>
            <a:ext cx="64008" cy="896112"/>
          </a:xfrm>
          <a:prstGeom prst="rect">
            <a:avLst/>
          </a:prstGeom>
          <a:solidFill>
            <a:srgbClr val="9A4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346704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9A4415"/>
                </a:solidFill>
                <a:latin typeface="Calibri"/>
              </a:rPr>
              <a:t>An empirical characterisation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47488" y="3337560"/>
            <a:ext cx="64008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0">
                <a:solidFill>
                  <a:srgbClr val="1B2733"/>
                </a:solidFill>
                <a:latin typeface="Calibri"/>
              </a:rPr>
              <a:t>Rank-order validity separated from absolute calibration; a halo effect quantified that instruction failed to prevent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242816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4242816"/>
            <a:ext cx="64008" cy="896112"/>
          </a:xfrm>
          <a:prstGeom prst="rect">
            <a:avLst/>
          </a:prstGeom>
          <a:solidFill>
            <a:srgbClr val="B45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2416" y="4370832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B4530F"/>
                </a:solidFill>
                <a:latin typeface="Calibri"/>
              </a:rPr>
              <a:t>A documented negative result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47488" y="4361688"/>
            <a:ext cx="64008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0">
                <a:solidFill>
                  <a:srgbClr val="1B2733"/>
                </a:solidFill>
                <a:latin typeface="Calibri"/>
              </a:rPr>
              <a:t>Why comparing a trained classifier against an LLM judge fails when the labels are model-generated — with the measurements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5266944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5266944"/>
            <a:ext cx="64008" cy="896112"/>
          </a:xfrm>
          <a:prstGeom prst="rect">
            <a:avLst/>
          </a:prstGeom>
          <a:solidFill>
            <a:srgbClr val="1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42416" y="539496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E6B4F"/>
                </a:solidFill>
                <a:latin typeface="Calibri"/>
              </a:rPr>
              <a:t>A reproducible harness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47488" y="5385816"/>
            <a:ext cx="64008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0">
                <a:solidFill>
                  <a:srgbClr val="1B2733"/>
                </a:solidFill>
                <a:latin typeface="Calibri"/>
              </a:rPr>
              <a:t>Evaluation suite and 72 unit tests, so every reported number can be regenerated from cached data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1F4E79"/>
                </a:solidFill>
                <a:latin typeface="Calibri"/>
              </a:rPr>
              <a:t>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What I would do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22402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 i="0">
                <a:solidFill>
                  <a:srgbClr val="9A4415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25296" y="227685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B2733"/>
                </a:solidFill>
                <a:latin typeface="Calibri"/>
              </a:rPr>
              <a:t>Threshold recalibration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81728" y="2258568"/>
            <a:ext cx="6766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0">
                <a:solidFill>
                  <a:srgbClr val="5A6B7B"/>
                </a:solidFill>
                <a:latin typeface="Calibri"/>
              </a:rPr>
              <a:t>On a corpus large enough to avoid overfitting — the single change that would most improve the system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862072"/>
            <a:ext cx="10874959" cy="7315"/>
          </a:xfrm>
          <a:prstGeom prst="rect">
            <a:avLst/>
          </a:prstGeom>
          <a:solidFill>
            <a:srgbClr val="E4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308152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 i="0">
                <a:solidFill>
                  <a:srgbClr val="4C3A8C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25296" y="311810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B2733"/>
                </a:solidFill>
                <a:latin typeface="Calibri"/>
              </a:rPr>
              <a:t>Criterion isolation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1728" y="3099816"/>
            <a:ext cx="6766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0">
                <a:solidFill>
                  <a:srgbClr val="5A6B7B"/>
                </a:solidFill>
                <a:latin typeface="Calibri"/>
              </a:rPr>
              <a:t>Score each rubric criterion in a separate call, removing the halo effect by construction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703320"/>
            <a:ext cx="10874959" cy="7315"/>
          </a:xfrm>
          <a:prstGeom prst="rect">
            <a:avLst/>
          </a:prstGeom>
          <a:solidFill>
            <a:srgbClr val="E4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392277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 i="0">
                <a:solidFill>
                  <a:srgbClr val="1F4E79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395935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B2733"/>
                </a:solidFill>
                <a:latin typeface="Calibri"/>
              </a:rPr>
              <a:t>Human-rated validation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1728" y="3941064"/>
            <a:ext cx="6766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0">
                <a:solidFill>
                  <a:srgbClr val="5A6B7B"/>
                </a:solidFill>
                <a:latin typeface="Calibri"/>
              </a:rPr>
              <a:t>Replace the intended-quality anchor with expert judgement; test whether the consistency signal predicts disagreement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4544568"/>
            <a:ext cx="10874959" cy="7315"/>
          </a:xfrm>
          <a:prstGeom prst="rect">
            <a:avLst/>
          </a:prstGeom>
          <a:solidFill>
            <a:srgbClr val="E4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476402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 i="0">
                <a:solidFill>
                  <a:srgbClr val="1E6B4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" y="48006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B2733"/>
                </a:solidFill>
                <a:latin typeface="Calibri"/>
              </a:rPr>
              <a:t>Pilot data for integrity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81728" y="4782312"/>
            <a:ext cx="6766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0">
                <a:solidFill>
                  <a:srgbClr val="5A6B7B"/>
                </a:solidFill>
                <a:latin typeface="Calibri"/>
              </a:rPr>
              <a:t>Real sessions, normal and anomalous, to obtain a measured false-positive rate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5385816"/>
            <a:ext cx="10874959" cy="7315"/>
          </a:xfrm>
          <a:prstGeom prst="rect">
            <a:avLst/>
          </a:prstGeom>
          <a:solidFill>
            <a:srgbClr val="E4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" y="560527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 i="0">
                <a:solidFill>
                  <a:srgbClr val="B4530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5296" y="564184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B2733"/>
                </a:solidFill>
                <a:latin typeface="Calibri"/>
              </a:rPr>
              <a:t>Demographic bias testing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81728" y="5623560"/>
            <a:ext cx="6766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0">
                <a:solidFill>
                  <a:srgbClr val="5A6B7B"/>
                </a:solidFill>
                <a:latin typeface="Calibri"/>
              </a:rPr>
              <a:t>The obligation the EU AI Act imposes, and the one this work has not discharged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B4530F"/>
                </a:solidFill>
                <a:latin typeface="Calibri"/>
              </a:rPr>
              <a:t>IN CLOSING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63040"/>
            <a:ext cx="1088136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 i="0">
                <a:solidFill>
                  <a:srgbClr val="1B2733"/>
                </a:solidFill>
                <a:latin typeface="Calibri"/>
              </a:rPr>
              <a:t>The judge ranks well.</a:t>
            </a:r>
          </a:p>
          <a:p>
            <a:pPr algn="l">
              <a:lnSpc>
                <a:spcPct val="115000"/>
              </a:lnSpc>
            </a:pPr>
            <a:r>
              <a:rPr sz="4200" b="1" i="0">
                <a:solidFill>
                  <a:srgbClr val="1B2733"/>
                </a:solidFill>
                <a:latin typeface="Calibri"/>
              </a:rPr>
              <a:t>It calibrates badly.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3429000"/>
            <a:ext cx="2011680" cy="64008"/>
          </a:xfrm>
          <a:prstGeom prst="rect">
            <a:avLst/>
          </a:prstGeom>
          <a:solidFill>
            <a:srgbClr val="B45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379476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5A6B7B"/>
                </a:solidFill>
                <a:latin typeface="Calibri"/>
              </a:rPr>
              <a:t>Both defects were found by this project's own evaluation, and both are reported in full.</a:t>
            </a:r>
          </a:p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5A6B7B"/>
                </a:solidFill>
                <a:latin typeface="Calibri"/>
              </a:rPr>
              <a:t>A system instrumented to be examined can be shown to be wrong — and then corrected.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25780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B2733"/>
                </a:solidFill>
                <a:latin typeface="Calibri"/>
              </a:rPr>
              <a:t>Thank you — questions welcome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1F4E79"/>
                </a:solidFill>
                <a:latin typeface="Calibri"/>
              </a:rPr>
              <a:t>RESERVE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Backup  ·  threshold calibration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286000"/>
            <a:ext cx="10874959" cy="23774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54203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5A6B7B"/>
                </a:solidFill>
                <a:latin typeface="Calibri"/>
              </a:rPr>
              <a:t>Boundary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15968" y="2542032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5A6B7B"/>
                </a:solidFill>
                <a:latin typeface="Calibri"/>
              </a:rPr>
              <a:t>In use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53328" y="254203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5A6B7B"/>
                </a:solidFill>
                <a:latin typeface="Calibri"/>
              </a:rPr>
              <a:t>Midpoint of means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13647" y="2542032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5A6B7B"/>
                </a:solidFill>
                <a:latin typeface="Calibri"/>
              </a:rPr>
              <a:t>Widest observed gap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315468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1B2733"/>
                </a:solidFill>
                <a:latin typeface="Calibri"/>
              </a:rPr>
              <a:t>Weak / medium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5968" y="3154680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9A4415"/>
                </a:solidFill>
                <a:latin typeface="Calibri"/>
              </a:rPr>
              <a:t>40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53328" y="315468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1B2733"/>
                </a:solidFill>
                <a:latin typeface="Calibri"/>
              </a:rPr>
              <a:t>72.9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3647" y="315468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1B2733"/>
                </a:solidFill>
                <a:latin typeface="Calibri"/>
              </a:rPr>
              <a:t>76.8  (max weak 67.0, min medium 86.5)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3867912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1B2733"/>
                </a:solidFill>
                <a:latin typeface="Calibri"/>
              </a:rPr>
              <a:t>Medium / strong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15968" y="3867912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9A4415"/>
                </a:solidFill>
                <a:latin typeface="Calibri"/>
              </a:rPr>
              <a:t>70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53328" y="3867912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1B2733"/>
                </a:solidFill>
                <a:latin typeface="Calibri"/>
              </a:rPr>
              <a:t>95.5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13647" y="3867912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1B2733"/>
                </a:solidFill>
                <a:latin typeface="Calibri"/>
              </a:rPr>
              <a:t>none — the distributions overlap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892040"/>
            <a:ext cx="1087495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5A6B7B"/>
                </a:solidFill>
                <a:latin typeface="Calibri"/>
              </a:rPr>
              <a:t>Not changed: 18 answers is too small a sample on which to move a decision boundary that would affect every future candidate.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1F4E79"/>
                </a:solidFill>
                <a:latin typeface="Calibri"/>
              </a:rPr>
              <a:t>RESERVE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Backup  ·  the fusion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21</a:t>
            </a:r>
          </a:p>
        </p:txBody>
      </p:sp>
      <p:pic>
        <p:nvPicPr>
          <p:cNvPr id="6" name="Picture 5" descr="fig06_fu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5424" y="2103120"/>
            <a:ext cx="6700847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1F4E79"/>
                </a:solidFill>
                <a:latin typeface="Calibri"/>
              </a:rPr>
              <a:t>RESERVE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Backup  ·  privacy and deployment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22</a:t>
            </a:r>
          </a:p>
        </p:txBody>
      </p:sp>
      <p:pic>
        <p:nvPicPr>
          <p:cNvPr id="6" name="Picture 5" descr="fig09_deploy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8126" y="2148840"/>
            <a:ext cx="735544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1F4E79"/>
                </a:solidFill>
                <a:latin typeface="Calibri"/>
              </a:rPr>
              <a:t>RESERVE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Backup  ·  verification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286000"/>
            <a:ext cx="3472586" cy="173736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487168"/>
            <a:ext cx="347258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400" b="1" i="0">
                <a:solidFill>
                  <a:srgbClr val="1E6B4F"/>
                </a:solidFill>
                <a:latin typeface="Calibri"/>
              </a:rPr>
              <a:t>72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3127248"/>
            <a:ext cx="317997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unit tests, all passing —</a:t>
            </a:r>
          </a:p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no API calls required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9554" y="2286000"/>
            <a:ext cx="3472586" cy="173736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59554" y="2487168"/>
            <a:ext cx="347258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400" b="1" i="0">
                <a:solidFill>
                  <a:srgbClr val="9A4415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05858" y="3127248"/>
            <a:ext cx="317997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direct regressions on the</a:t>
            </a:r>
          </a:p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substring-matching failure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0740" y="2286000"/>
            <a:ext cx="3472586" cy="173736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0740" y="2487168"/>
            <a:ext cx="347258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400" b="1" i="0">
                <a:solidFill>
                  <a:srgbClr val="1F4E79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7044" y="3127248"/>
            <a:ext cx="317997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end-to-end run with live</a:t>
            </a:r>
          </a:p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model calls at every stage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507992"/>
            <a:ext cx="146304" cy="5029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" y="4389120"/>
            <a:ext cx="10564063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600">
                <a:solidFill>
                  <a:srgbClr val="1B2733"/>
                </a:solidFill>
                <a:latin typeface="Calibri"/>
              </a:rPr>
              <a:t>Skill normalisation, the four-stage matching cascade, and its regressions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4949098"/>
            <a:ext cx="146304" cy="5029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" y="4830226"/>
            <a:ext cx="10564063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600">
                <a:solidFill>
                  <a:srgbClr val="1B2733"/>
                </a:solidFill>
                <a:latin typeface="Calibri"/>
              </a:rPr>
              <a:t>Gap analysis: matched / missing / bonus / extra partitioning and match percentage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5390204"/>
            <a:ext cx="146304" cy="5029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9264" y="5271332"/>
            <a:ext cx="10564063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600">
                <a:solidFill>
                  <a:srgbClr val="1B2733"/>
                </a:solidFill>
                <a:latin typeface="Calibri"/>
              </a:rPr>
              <a:t>Transcript pairing: consecutive-speaker merging, unanswered questions, empty input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5831310"/>
            <a:ext cx="146304" cy="5029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" y="5712438"/>
            <a:ext cx="10564063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600">
                <a:solidFill>
                  <a:srgbClr val="1B2733"/>
                </a:solidFill>
                <a:latin typeface="Calibri"/>
              </a:rPr>
              <a:t>Fusion: weight sums, arithmetic reconciliation, integrity override, monotonicity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 Explainable Multi-Agent AI Interview Platform</dc:title>
  <dc:subject/>
  <dc:creator>Abdul Wahab</dc:creator>
  <cp:keywords/>
  <dc:description>generated using python-pptx</dc:description>
  <cp:lastModifiedBy>Abdul Wahab</cp:lastModifiedBy>
  <cp:revision>1</cp:revision>
  <dcterms:created xsi:type="dcterms:W3CDTF">2013-01-27T09:14:16Z</dcterms:created>
  <dcterms:modified xsi:type="dcterms:W3CDTF">2013-01-27T09:15:58Z</dcterms:modified>
  <cp:category/>
</cp:coreProperties>
</file>