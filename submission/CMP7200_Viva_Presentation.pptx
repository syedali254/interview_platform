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Good morning. My project is an AI system that interviews a job candidate, marks</a:t>
            </a:r>
          </a:p>
          <a:p>
            <a:r>
              <a:t>their answers, and explains how it reached every mark.</a:t>
            </a:r>
          </a:p>
          <a:p/>
          <a:p>
            <a:r>
              <a:t>The one sentence to hold on to: most automated interview tools give you a score</a:t>
            </a:r>
          </a:p>
          <a:p>
            <a:r>
              <a:t>and no explanation. Mine measures how much its own scores can be trusted, and</a:t>
            </a:r>
          </a:p>
          <a:p>
            <a:r>
              <a:t>says so when they cannot.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Companies now use AI to interview and score people at a scale no human team</a:t>
            </a:r>
          </a:p>
          <a:p>
            <a:r>
              <a:t>could manage. The appeal is obvious: it is fast, and it asks everyone the same</a:t>
            </a:r>
          </a:p>
          <a:p>
            <a:r>
              <a:t>questions.</a:t>
            </a:r>
          </a:p>
          <a:p/>
          <a:p>
            <a:r>
              <a:t>The trouble is what comes out. A number, and nothing else. No reason, and no way</a:t>
            </a:r>
          </a:p>
          <a:p>
            <a:r>
              <a:t>to argue with it.</a:t>
            </a:r>
          </a:p>
          <a:p/>
          <a:p>
            <a:r>
              <a:t>This has caused real trouble. In 2019 a privacy group formally complained about</a:t>
            </a:r>
          </a:p>
          <a:p>
            <a:r>
              <a:t>HireVue scoring candidates from their faces. HireVue dropped that in 2021, but</a:t>
            </a:r>
          </a:p>
          <a:p>
            <a:r>
              <a:t>the deeper problem stayed: you still get a score with no explanation.</a:t>
            </a:r>
          </a:p>
          <a:p/>
          <a:p>
            <a:r>
              <a:t>It also costs companies money. Research shows candidates who think a process was</a:t>
            </a:r>
          </a:p>
          <a:p>
            <a:r>
              <a:t>unfair are less likely to accept the job if offered, which cancels out the time</a:t>
            </a:r>
          </a:p>
          <a:p>
            <a:r>
              <a:t>the company saved.</a:t>
            </a:r>
          </a:p>
          <a:p/>
          <a:p>
            <a:r>
              <a:t>And the law has caught up. The EU AI Act now treats hiring software as high</a:t>
            </a:r>
          </a:p>
          <a:p>
            <a:r>
              <a:t>risk. Notice what it actually asks for: not a perfect model, which nobody can</a:t>
            </a:r>
          </a:p>
          <a:p>
            <a:r>
              <a:t>build, but that problems be tested for, written down, and checked by a person.</a:t>
            </a:r>
          </a:p>
          <a:p>
            <a:r>
              <a:t>That is a list of requirements, and it is the one I built 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Being clear about the boundaries, because the limits are as important as the</a:t>
            </a:r>
          </a:p>
          <a:p>
            <a:r>
              <a:t>features.</a:t>
            </a:r>
          </a:p>
          <a:p/>
          <a:p>
            <a:r>
              <a:t>What it does. It reads a CV and a job advert. It works out which required skills</a:t>
            </a:r>
          </a:p>
          <a:p>
            <a:r>
              <a:t>the candidate has not shown. It writes an interview and asks about those missing</a:t>
            </a:r>
          </a:p>
          <a:p>
            <a:r>
              <a:t>skills first. It runs that interview by voice or by typing. It marks every</a:t>
            </a:r>
          </a:p>
          <a:p>
            <a:r>
              <a:t>answer and says how confident it is in each mark. And it produces a report where</a:t>
            </a:r>
          </a:p>
          <a:p>
            <a:r>
              <a:t>every number can be traced back to something.</a:t>
            </a:r>
          </a:p>
          <a:p/>
          <a:p>
            <a:r>
              <a:t>What it does not do, on purpose. It does not hire anyone — it produces evidence,</a:t>
            </a:r>
          </a:p>
          <a:p>
            <a:r>
              <a:t>a person decides. It knows nothing about who the candidate is: no age, no</a:t>
            </a:r>
          </a:p>
          <a:p>
            <a:r>
              <a:t>gender, no name, no background. It does not predict how well someone would do</a:t>
            </a:r>
          </a:p>
          <a:p>
            <a:r>
              <a:t>the job; it measures how well they answered, which is a different claim, and</a:t>
            </a:r>
          </a:p>
          <a:p>
            <a:r>
              <a:t>proving the first would need years of follow-up data. And it is not a finished</a:t>
            </a:r>
          </a:p>
          <a:p>
            <a:r>
              <a:t>product — one interview at a time, no login, no database. It is a research</a:t>
            </a:r>
          </a:p>
          <a:p>
            <a:r>
              <a:t>prototype.</a:t>
            </a:r>
          </a:p>
          <a:p/>
          <a:p>
            <a:r>
              <a:t>If you take one thing from this slide: every one of those limits is a decision I</a:t>
            </a:r>
          </a:p>
          <a:p>
            <a:r>
              <a:t>can defend, not something I ran out of time for.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Here is the whole thing in one picture, left to right, in four stages.</a:t>
            </a:r>
          </a:p>
          <a:p/>
          <a:p>
            <a:r>
              <a:t>Stage one, prepare. A CV and a job advert go in. The system reads both and maps</a:t>
            </a:r>
          </a:p>
          <a:p>
            <a:r>
              <a:t>the skills onto ESCO — that is the official EU list of job skills, so when it</a:t>
            </a:r>
          </a:p>
          <a:p>
            <a:r>
              <a:t>says a skill is missing, that skill is a real published thing and not something</a:t>
            </a:r>
          </a:p>
          <a:p>
            <a:r>
              <a:t>the AI invented. It then writes the interview and puts the missing skills first,</a:t>
            </a:r>
          </a:p>
          <a:p>
            <a:r>
              <a:t>because every interview runs out of time and a question at the end never gets</a:t>
            </a:r>
          </a:p>
          <a:p>
            <a:r>
              <a:t>asked.</a:t>
            </a:r>
          </a:p>
          <a:p/>
          <a:p>
            <a:r>
              <a:t>Stage two, the interview. The candidate picks voice or typing. Both produce</a:t>
            </a:r>
          </a:p>
          <a:p>
            <a:r>
              <a:t>exactly the same transcript, so nothing after this point knows or cares which</a:t>
            </a:r>
          </a:p>
          <a:p>
            <a:r>
              <a:t>one ran. While they answer, the browser watches attention and posture and tone</a:t>
            </a:r>
          </a:p>
          <a:p>
            <a:r>
              <a:t>of voice — and none of that video or audio ever leaves their computer.</a:t>
            </a:r>
          </a:p>
          <a:p/>
          <a:p>
            <a:r>
              <a:t>Stage three, marking. Greetings and goodbyes are thrown away so they cannot</a:t>
            </a:r>
          </a:p>
          <a:p>
            <a:r>
              <a:t>drag the average up. Every real answer is marked twice. Timing and tab switches</a:t>
            </a:r>
          </a:p>
          <a:p>
            <a:r>
              <a:t>get checked for anything odd.</a:t>
            </a:r>
          </a:p>
          <a:p/>
          <a:p>
            <a:r>
              <a:t>Stage four, the report. Everything is combined into one score and a</a:t>
            </a:r>
          </a:p>
          <a:p>
            <a:r>
              <a:t>recommendation, with the working shown.</a:t>
            </a:r>
          </a:p>
          <a:p/>
          <a:p>
            <a:r>
              <a:t>The design point worth making: each part has one job and a clear input and</a:t>
            </a:r>
          </a:p>
          <a:p>
            <a:r>
              <a:t>output, so any one of them could be replaced without disturbing the rest.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Thirteen parts. I will not read them all out — the point is that each has one</a:t>
            </a:r>
          </a:p>
          <a:p>
            <a:r>
              <a:t>job, and you can see where every piece of the system lives.</a:t>
            </a:r>
          </a:p>
          <a:p/>
          <a:p>
            <a:r>
              <a:t>The first four prepare the interview: read the CV, read the job advert, compare</a:t>
            </a:r>
          </a:p>
          <a:p>
            <a:r>
              <a:t>them to find the gaps, and write the questions.</a:t>
            </a:r>
          </a:p>
          <a:p/>
          <a:p>
            <a:r>
              <a:t>The middle group runs and watches the interview: the talking interviewer, the</a:t>
            </a:r>
          </a:p>
          <a:p>
            <a:r>
              <a:t>typed version, the tracker that remembers how each skill is going, and the three</a:t>
            </a:r>
          </a:p>
          <a:p>
            <a:r>
              <a:t>that watch attention, posture and tone of voice through the browser.</a:t>
            </a:r>
          </a:p>
          <a:p/>
          <a:p>
            <a:r>
              <a:t>The last group does the marking: the judge that scores each answer, the cheating</a:t>
            </a:r>
          </a:p>
          <a:p>
            <a:r>
              <a:t>check, the part that combines everything, and the part that writes the report.</a:t>
            </a:r>
          </a:p>
          <a:p/>
          <a:p>
            <a:r>
              <a:t>Two things worth noticing. Numbers five and five-T are the same module with a</a:t>
            </a:r>
          </a:p>
          <a:p>
            <a:r>
              <a:t>different way of getting the answer in — speaking or typing — which is why the</a:t>
            </a:r>
          </a:p>
          <a:p>
            <a:r>
              <a:t>count is thirteen and not fourteen. And numbers seven, eight and ten all run</a:t>
            </a:r>
          </a:p>
          <a:p>
            <a:r>
              <a:t>inside the candidate's browser, which is how the privacy promise on the last</a:t>
            </a:r>
          </a:p>
          <a:p>
            <a:r>
              <a:t>slide is actually kept.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I actually used, and where the AI is.</a:t>
            </a:r>
          </a:p>
          <a:p/>
          <a:p>
            <a:r>
              <a:t>Three jobs use a language model: reading the two documents, writing the</a:t>
            </a:r>
          </a:p>
          <a:p>
            <a:r>
              <a:t>questions, and marking the answers. That is Google Gemini 3.6 Flash in every</a:t>
            </a:r>
          </a:p>
          <a:p>
            <a:r>
              <a:t>case. One model, so the behaviour is consistent and there is one thing to test.</a:t>
            </a:r>
          </a:p>
          <a:p/>
          <a:p>
            <a:r>
              <a:t>The spoken interview uses three services: LiveKit carries the audio call,</a:t>
            </a:r>
          </a:p>
          <a:p>
            <a:r>
              <a:t>Deepgram turns speech into text, and ElevenLabs is the interviewer's voice, with</a:t>
            </a:r>
          </a:p>
          <a:p>
            <a:r>
              <a:t>Deepgram's voice as a backup if that runs out of credit.</a:t>
            </a:r>
          </a:p>
          <a:p/>
          <a:p>
            <a:r>
              <a:t>The skill matching uses no AI at all, and that is deliberate. ESCO is already a</a:t>
            </a:r>
          </a:p>
          <a:p>
            <a:r>
              <a:t>carefully built list maintained as an EU standard. Learning something over the</a:t>
            </a:r>
          </a:p>
          <a:p>
            <a:r>
              <a:t>top of it would make it harder to explain and would throw away the one property</a:t>
            </a:r>
          </a:p>
          <a:p>
            <a:r>
              <a:t>that makes it defensible — that every skill traces back to a published standard.</a:t>
            </a:r>
          </a:p>
          <a:p/>
          <a:p>
            <a:r>
              <a:t>The camera and microphone work uses Google's MediaPipe, running inside the</a:t>
            </a:r>
          </a:p>
          <a:p>
            <a:r>
              <a:t>browser. The cheating check uses a scikit-learn model that trains itself on</a:t>
            </a:r>
          </a:p>
          <a:p>
            <a:r>
              <a:t>first run, because nobody can ethically collect real examples of cheating.</a:t>
            </a:r>
          </a:p>
          <a:p/>
          <a:p>
            <a:r>
              <a:t>And the app itself is a Python server with a React front end.</a:t>
            </a:r>
          </a:p>
          <a:p/>
          <a:p>
            <a:r>
              <a:t>The line at the bottom is the one to say out loud: video and audio never leave</a:t>
            </a:r>
          </a:p>
          <a:p>
            <a:r>
              <a:t>the candidate's computer. Only the resulting numbers 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idea the whole project rests on, and it is simple.</a:t>
            </a:r>
          </a:p>
          <a:p/>
          <a:p>
            <a:r>
              <a:t>Research has shown that when you use an AI to mark work, changing the order you</a:t>
            </a:r>
          </a:p>
          <a:p>
            <a:r>
              <a:t>show it the marking criteria changes the score it gives. Most people quote that</a:t>
            </a:r>
          </a:p>
          <a:p>
            <a:r>
              <a:t>as a reason not to trust AI marking.</a:t>
            </a:r>
          </a:p>
          <a:p/>
          <a:p>
            <a:r>
              <a:t>I read it as an instruction. If the order changes the score, then mark every</a:t>
            </a:r>
          </a:p>
          <a:p>
            <a:r>
              <a:t>answer twice, with the criteria in a different order each time. Averaging cancels</a:t>
            </a:r>
          </a:p>
          <a:p>
            <a:r>
              <a:t>out the effect of the order.</a:t>
            </a:r>
          </a:p>
          <a:p/>
          <a:p>
            <a:r>
              <a:t>But the average is not the interesting part. The gap between the two marks is.</a:t>
            </a:r>
          </a:p>
          <a:p>
            <a:r>
              <a:t>If it says 82 and then 81, it is sure. If it says 71 and then 45, it is not —</a:t>
            </a:r>
          </a:p>
          <a:p>
            <a:r>
              <a:t>and the average of 58 hides that completely.</a:t>
            </a:r>
          </a:p>
          <a:p/>
          <a:p>
            <a:r>
              <a:t>So I keep the gap. A big gap means the mark cannot be trusted, and that answer</a:t>
            </a:r>
          </a:p>
          <a:p>
            <a:r>
              <a:t>goes to a human instead of being reported as a confident score.</a:t>
            </a:r>
          </a:p>
          <a:p/>
          <a:p>
            <a:r>
              <a:t>The claim is deliberately modest. I am not saying the AI is unbiased. I am</a:t>
            </a:r>
          </a:p>
          <a:p>
            <a:r>
              <a:t>saying that when it is unsure, the system admits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 wrote 18 answers to a known quality — deliberately weak, deliberately average,</a:t>
            </a:r>
          </a:p>
          <a:p>
            <a:r>
              <a:t>deliberately excellent — and ran five experiments. Here is what came back.</a:t>
            </a:r>
          </a:p>
          <a:p/>
          <a:p>
            <a:r>
              <a:t>The good news first. It almost never puts a worse answer above a better one. The</a:t>
            </a:r>
          </a:p>
          <a:p>
            <a:r>
              <a:t>agreement score is 0.92 out of 1. As a way of ranking candidates against each</a:t>
            </a:r>
          </a:p>
          <a:p>
            <a:r>
              <a:t>other, it works.</a:t>
            </a:r>
          </a:p>
          <a:p/>
          <a:p>
            <a:r>
              <a:t>Now the first fault. Look at the averages. Deliberately weak answers get 53.</a:t>
            </a:r>
          </a:p>
          <a:p>
            <a:r>
              <a:t>Deliberately average answers get 92.8. Excellent answers get 98.2. And the system</a:t>
            </a:r>
          </a:p>
          <a:p>
            <a:r>
              <a:t>calls anything 70 or above a strong answer.</a:t>
            </a:r>
          </a:p>
          <a:p/>
          <a:p>
            <a:r>
              <a:t>So average and excellent get exactly the same verdict. The marks are useful for</a:t>
            </a:r>
          </a:p>
          <a:p>
            <a:r>
              <a:t>comparing two candidates. They are not useful for deciding whether one candidate</a:t>
            </a:r>
          </a:p>
          <a:p>
            <a:r>
              <a:t>is good enough on their own. My report says exactly that, and proposes setting</a:t>
            </a:r>
          </a:p>
          <a:p>
            <a:r>
              <a:t>the thresholds from the scores actually observed instead of assuming the full</a:t>
            </a:r>
          </a:p>
          <a:p>
            <a:r>
              <a:t>range gets used.</a:t>
            </a:r>
          </a:p>
          <a:p/>
          <a:p>
            <a:r>
              <a:t>The second fault. I ask it to mark four things separately — accuracy,</a:t>
            </a:r>
          </a:p>
          <a:p>
            <a:r>
              <a:t>completeness, clarity, relevance. They move together at 0.85 out of 1. It forms</a:t>
            </a:r>
          </a:p>
          <a:p>
            <a:r>
              <a:t>one overall impression and spreads it across all four. That is a well-known</a:t>
            </a:r>
          </a:p>
          <a:p>
            <a:r>
              <a:t>effect in human marking too, and telling the model not to do it did not stop it.</a:t>
            </a:r>
          </a:p>
          <a:p>
            <a:r>
              <a:t>This matters because I had defended that four-part breakdown as an explanation</a:t>
            </a:r>
          </a:p>
          <a:p>
            <a:r>
              <a:t>for the candidate. It explains less than I claimed.</a:t>
            </a:r>
          </a:p>
          <a:p/>
          <a:p>
            <a:r>
              <a:t>And one honest non-result: the safety net for unreliable marks never actually</a:t>
            </a:r>
          </a:p>
          <a:p>
            <a:r>
              <a:t>triggered, because the two marks were only 2.2 points apart on average. I report</a:t>
            </a:r>
          </a:p>
          <a:p>
            <a:r>
              <a:t>that as a null result rather than dressing it up.</a:t>
            </a:r>
          </a:p>
          <a:p/>
          <a:p>
            <a:r>
              <a:t>The thing I would emphasise: both of these are faults in my own system, found by</a:t>
            </a:r>
          </a:p>
          <a:p>
            <a:r>
              <a:t>my own testing. That is the whole argument for building it this way.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Where I departed from my proposal, and I want to be direct about it.</a:t>
            </a:r>
          </a:p>
          <a:p/>
          <a:p>
            <a:r>
              <a:t>My proposal's headline idea was a second marker: a trained model to check the AI</a:t>
            </a:r>
          </a:p>
          <a:p>
            <a:r>
              <a:t>judge. I built it. Then I measured it, and removed it.</a:t>
            </a:r>
          </a:p>
          <a:p/>
          <a:p>
            <a:r>
              <a:t>Three reasons. Its training answers came from the same AI it was supposed to be</a:t>
            </a:r>
          </a:p>
          <a:p>
            <a:r>
              <a:t>checking, so the two agreeing tells you nothing about the world. A test showed it</a:t>
            </a:r>
          </a:p>
          <a:p>
            <a:r>
              <a:t>was really keying on how long an answer was, not how good it was. And adding a</a:t>
            </a:r>
          </a:p>
          <a:p>
            <a:r>
              <a:t>second unchecked marker gives the appearance of safety, not safety.</a:t>
            </a:r>
          </a:p>
          <a:p/>
          <a:p>
            <a:r>
              <a:t>Removing it late felt like going backwards — it was the part that most looked</a:t>
            </a:r>
          </a:p>
          <a:p>
            <a:r>
              <a:t>like machine learning research. What changed my mind was realising I could not</a:t>
            </a:r>
          </a:p>
          <a:p>
            <a:r>
              <a:t>answer the obvious question: why does that agreement mean anything? Writing it up</a:t>
            </a:r>
          </a:p>
          <a:p>
            <a:r>
              <a:t>as a finding turned the weakest part of the project into one I can defend.</a:t>
            </a:r>
          </a:p>
          <a:p/>
          <a:p>
            <a:r>
              <a:t>I also replaced a planned emotion detector with a simpler measure of how someone</a:t>
            </a:r>
          </a:p>
          <a:p>
            <a:r>
              <a:t>speaks — loudness, steadiness, pauses. Every part of that can be inspected. An</a:t>
            </a:r>
          </a:p>
          <a:p>
            <a:r>
              <a:t>emotion label from a black box cannot. In a project about explaining itself, that</a:t>
            </a:r>
          </a:p>
          <a:p>
            <a:r>
              <a:t>swap makes it more consistent, not less.</a:t>
            </a:r>
          </a:p>
          <a:p/>
          <a:p>
            <a:r>
              <a:t>Now what I cannot claim. Eighteen answers is a small test set. They were written,</a:t>
            </a:r>
          </a:p>
          <a:p>
            <a:r>
              <a:t>not spoken by real people. I have no human markers to compare against. I have not</a:t>
            </a:r>
          </a:p>
          <a:p>
            <a:r>
              <a:t>tested for bias across different groups of people, because that needs exactly the</a:t>
            </a:r>
          </a:p>
          <a:p>
            <a:r>
              <a:t>personal data I chose not to collect. And it runs one interview at a time.</a:t>
            </a:r>
          </a:p>
          <a:p/>
          <a:p>
            <a:r>
              <a:t>Measured against the EU AI Act: explaining itself and keeping a human in charge,</a:t>
            </a:r>
          </a:p>
          <a:p>
            <a:r>
              <a:t>it does well. Record keeping and bias testing, it does not.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 finish. Four things.</a:t>
            </a:r>
          </a:p>
          <a:p/>
          <a:p>
            <a:r>
              <a:t>A working platform that aims its questions using a published skills standard,</a:t>
            </a:r>
          </a:p>
          <a:p>
            <a:r>
              <a:t>interviews by voice or typing, and produces a report that shows its working.</a:t>
            </a:r>
          </a:p>
          <a:p/>
          <a:p>
            <a:r>
              <a:t>A clear measurement of how an AI marker behaves when it is actually deployed —</a:t>
            </a:r>
          </a:p>
          <a:p>
            <a:r>
              <a:t>specifically, that it can rank answers well and still be badly calibrated. That</a:t>
            </a:r>
          </a:p>
          <a:p>
            <a:r>
              <a:t>distinction is where both of my faults came from.</a:t>
            </a:r>
          </a:p>
          <a:p/>
          <a:p>
            <a:r>
              <a:t>A documented negative result: comparing a trained model against the AI that</a:t>
            </a:r>
          </a:p>
          <a:p>
            <a:r>
              <a:t>supplied its training answers does not tell you anything, and I have the evidence</a:t>
            </a:r>
          </a:p>
          <a:p>
            <a:r>
              <a:t>for why.</a:t>
            </a:r>
          </a:p>
          <a:p/>
          <a:p>
            <a:r>
              <a:t>And the whole test setup is in the submission, so every number I have shown you</a:t>
            </a:r>
          </a:p>
          <a:p>
            <a:r>
              <a:t>can be produced again.</a:t>
            </a:r>
          </a:p>
          <a:p/>
          <a:p>
            <a:r>
              <a:t>The wider point is deliberately modest. Being open about one marker — what it</a:t>
            </a:r>
          </a:p>
          <a:p>
            <a:r>
              <a:t>did, how sure it was, when a human should step in — is worth more than adding a</a:t>
            </a:r>
          </a:p>
          <a:p>
            <a:r>
              <a:t>second marker nobody has checked. Backup without independent checking looks like</a:t>
            </a:r>
          </a:p>
          <a:p>
            <a:r>
              <a:t>safety without being it.</a:t>
            </a:r>
          </a:p>
          <a:p/>
          <a:p>
            <a:r>
              <a:t>And the best evidence for that is what I said earlier: my own testing found two</a:t>
            </a:r>
          </a:p>
          <a:p>
            <a:r>
              <a:t>real faults in my own system. Something built to be examined can be shown to be</a:t>
            </a:r>
          </a:p>
          <a:p>
            <a:r>
              <a:t>wrong, and then fixed. That is worth more than a better-looking score from</a:t>
            </a:r>
          </a:p>
          <a:p>
            <a:r>
              <a:t>something nobody can see inside.</a:t>
            </a:r>
          </a:p>
          <a:p/>
          <a:p>
            <a:r>
              <a:t>Thank you. I am happy to take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1417320"/>
            <a:ext cx="2011680" cy="54864"/>
          </a:xfrm>
          <a:prstGeom prst="rect">
            <a:avLst/>
          </a:prstGeom>
          <a:solidFill>
            <a:srgbClr val="B453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1783080"/>
            <a:ext cx="10874959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000" b="1" i="0">
                <a:solidFill>
                  <a:srgbClr val="1B2733"/>
                </a:solidFill>
                <a:latin typeface="Calibri"/>
              </a:rPr>
              <a:t>An AI Interview Platform</a:t>
            </a:r>
          </a:p>
          <a:p>
            <a:pPr algn="l">
              <a:lnSpc>
                <a:spcPct val="114000"/>
              </a:lnSpc>
            </a:pPr>
            <a:r>
              <a:rPr sz="4000" b="1" i="0">
                <a:solidFill>
                  <a:srgbClr val="1B2733"/>
                </a:solidFill>
                <a:latin typeface="Calibri"/>
              </a:rPr>
              <a:t>That Explains Its Own Marking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566160"/>
            <a:ext cx="1087495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900" b="0" i="0">
                <a:solidFill>
                  <a:srgbClr val="5A6B7B"/>
                </a:solidFill>
                <a:latin typeface="Calibri"/>
              </a:rPr>
              <a:t>It interviews a candidate, marks the answers, and shows how it</a:t>
            </a:r>
          </a:p>
          <a:p>
            <a:pPr algn="l">
              <a:lnSpc>
                <a:spcPct val="130000"/>
              </a:lnSpc>
            </a:pPr>
            <a:r>
              <a:rPr sz="1900" b="0" i="0">
                <a:solidFill>
                  <a:srgbClr val="5A6B7B"/>
                </a:solidFill>
                <a:latin typeface="Calibri"/>
              </a:rPr>
              <a:t>reached every mark — including how sure it is about each one.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4846320"/>
            <a:ext cx="10874959" cy="1828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5120640"/>
            <a:ext cx="108749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1B2733"/>
                </a:solidFill>
                <a:latin typeface="Calibri"/>
              </a:rPr>
              <a:t>Abdul Wahab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532120"/>
            <a:ext cx="108749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5A6B7B"/>
                </a:solidFill>
                <a:latin typeface="Calibri"/>
              </a:rPr>
              <a:t>Student Number: [STUDENT NUMBER]    ·    CMP7200 Individual Master's Project    ·    Birmingham City University    ·    2025-26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5836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 spc="150">
                <a:solidFill>
                  <a:srgbClr val="9A4415"/>
                </a:solidFill>
                <a:latin typeface="Calibri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87552"/>
            <a:ext cx="10874959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1B2733"/>
                </a:solidFill>
                <a:latin typeface="Calibri"/>
              </a:rPr>
              <a:t>Companies score interviews with AI. Candidates get a number and no reason.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682496"/>
            <a:ext cx="1371600" cy="41148"/>
          </a:xfrm>
          <a:prstGeom prst="rect">
            <a:avLst/>
          </a:prstGeom>
          <a:solidFill>
            <a:srgbClr val="9A44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84687" y="638251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5A6B7B"/>
                </a:solidFill>
                <a:latin typeface="Calibri"/>
              </a:rPr>
              <a:t>2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2240280"/>
            <a:ext cx="182880" cy="54864"/>
          </a:xfrm>
          <a:prstGeom prst="rect">
            <a:avLst/>
          </a:prstGeom>
          <a:solidFill>
            <a:srgbClr val="9A44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42416" y="2084832"/>
            <a:ext cx="10417759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1B2733"/>
                </a:solidFill>
                <a:latin typeface="Calibri"/>
              </a:rPr>
              <a:t>It has caused real trouble.  In 2019 a privacy group formally complained about HireVue scoring candidates from their faces. The feature was dropped in 2021. The deeper problem stayed.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3264408"/>
            <a:ext cx="182880" cy="54864"/>
          </a:xfrm>
          <a:prstGeom prst="rect">
            <a:avLst/>
          </a:prstGeom>
          <a:solidFill>
            <a:srgbClr val="B453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3108960"/>
            <a:ext cx="10417759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1B2733"/>
                </a:solidFill>
                <a:latin typeface="Calibri"/>
              </a:rPr>
              <a:t>It costs companies money.  Candidates who think a process was unfair are less likely to accept the job — which cancels out the time the company saved.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4288536"/>
            <a:ext cx="182880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2416" y="4133088"/>
            <a:ext cx="10417759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1B2733"/>
                </a:solidFill>
                <a:latin typeface="Calibri"/>
              </a:rPr>
              <a:t>The law has caught up.  The EU AI Act now treats hiring software as high risk. It does not ask for a perfect model. It asks that problems be tested for, written down, and checked by a person.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5029200"/>
            <a:ext cx="10874959" cy="109728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9848" y="5248656"/>
            <a:ext cx="10051999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B2733"/>
                </a:solidFill>
                <a:latin typeface="Calibri"/>
              </a:rPr>
              <a:t>So my question is not “can AI mark an interview answer?” It clearly can.</a:t>
            </a:r>
          </a:p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B2733"/>
                </a:solidFill>
                <a:latin typeface="Calibri"/>
              </a:rPr>
              <a:t>It is “can it be honest about how much to trust each mark?”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5836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 spc="150">
                <a:solidFill>
                  <a:srgbClr val="1E6B4F"/>
                </a:solidFill>
                <a:latin typeface="Calibri"/>
              </a:rPr>
              <a:t>PROJECT SCOPE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87552"/>
            <a:ext cx="10874959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1B2733"/>
                </a:solidFill>
                <a:latin typeface="Calibri"/>
              </a:rPr>
              <a:t>What it does, and what it deliberately does not do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682496"/>
            <a:ext cx="1371600" cy="41148"/>
          </a:xfrm>
          <a:prstGeom prst="rect">
            <a:avLst/>
          </a:prstGeom>
          <a:solidFill>
            <a:srgbClr val="1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84687" y="638251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5A6B7B"/>
                </a:solidFill>
                <a:latin typeface="Calibri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01168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1E6B4F"/>
                </a:solidFill>
                <a:latin typeface="Calibri"/>
              </a:rPr>
              <a:t>What it does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01968" y="201168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9A4415"/>
                </a:solidFill>
                <a:latin typeface="Calibri"/>
              </a:rPr>
              <a:t>What it deliberately does not do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660904"/>
            <a:ext cx="146304" cy="50292"/>
          </a:xfrm>
          <a:prstGeom prst="rect">
            <a:avLst/>
          </a:prstGeom>
          <a:solidFill>
            <a:srgbClr val="1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9264" y="2542032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 i="0">
                <a:solidFill>
                  <a:srgbClr val="1B2733"/>
                </a:solidFill>
                <a:latin typeface="Calibri"/>
              </a:rPr>
              <a:t>Reads a CV and a job advert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3227832"/>
            <a:ext cx="146304" cy="50292"/>
          </a:xfrm>
          <a:prstGeom prst="rect">
            <a:avLst/>
          </a:prstGeom>
          <a:solidFill>
            <a:srgbClr val="1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9264" y="310896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 i="0">
                <a:solidFill>
                  <a:srgbClr val="1B2733"/>
                </a:solidFill>
                <a:latin typeface="Calibri"/>
              </a:rPr>
              <a:t>Works out which required skills are missing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3794760"/>
            <a:ext cx="146304" cy="50292"/>
          </a:xfrm>
          <a:prstGeom prst="rect">
            <a:avLst/>
          </a:prstGeom>
          <a:solidFill>
            <a:srgbClr val="1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9264" y="3675888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 i="0">
                <a:solidFill>
                  <a:srgbClr val="1B2733"/>
                </a:solidFill>
                <a:latin typeface="Calibri"/>
              </a:rPr>
              <a:t>Writes the interview — missing skills asked first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4361688"/>
            <a:ext cx="146304" cy="50292"/>
          </a:xfrm>
          <a:prstGeom prst="rect">
            <a:avLst/>
          </a:prstGeom>
          <a:solidFill>
            <a:srgbClr val="1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9264" y="4242816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 i="0">
                <a:solidFill>
                  <a:srgbClr val="1B2733"/>
                </a:solidFill>
                <a:latin typeface="Calibri"/>
              </a:rPr>
              <a:t>Runs it by voice, or by typing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4928616"/>
            <a:ext cx="146304" cy="50292"/>
          </a:xfrm>
          <a:prstGeom prst="rect">
            <a:avLst/>
          </a:prstGeom>
          <a:solidFill>
            <a:srgbClr val="1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4809744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 i="0">
                <a:solidFill>
                  <a:srgbClr val="1B2733"/>
                </a:solidFill>
                <a:latin typeface="Calibri"/>
              </a:rPr>
              <a:t>Marks every answer, and says how sure it is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5495544"/>
            <a:ext cx="146304" cy="50292"/>
          </a:xfrm>
          <a:prstGeom prst="rect">
            <a:avLst/>
          </a:prstGeom>
          <a:solidFill>
            <a:srgbClr val="1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9264" y="5376672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 i="0">
                <a:solidFill>
                  <a:srgbClr val="1B2733"/>
                </a:solidFill>
                <a:latin typeface="Calibri"/>
              </a:rPr>
              <a:t>Produces a report where every number can be traced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01968" y="2660904"/>
            <a:ext cx="146304" cy="50292"/>
          </a:xfrm>
          <a:prstGeom prst="rect">
            <a:avLst/>
          </a:prstGeom>
          <a:solidFill>
            <a:srgbClr val="9A44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12864" y="2542032"/>
            <a:ext cx="47548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 i="0">
                <a:solidFill>
                  <a:srgbClr val="1B2733"/>
                </a:solidFill>
                <a:latin typeface="Calibri"/>
              </a:rPr>
              <a:t>Does not hire anyone. It gives evidence. A person decides.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01968" y="3483864"/>
            <a:ext cx="146304" cy="50292"/>
          </a:xfrm>
          <a:prstGeom prst="rect">
            <a:avLst/>
          </a:prstGeom>
          <a:solidFill>
            <a:srgbClr val="9A44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12864" y="3364992"/>
            <a:ext cx="47548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 i="0">
                <a:solidFill>
                  <a:srgbClr val="1B2733"/>
                </a:solidFill>
                <a:latin typeface="Calibri"/>
              </a:rPr>
              <a:t>Knows nothing about the person. No age, gender, name or background.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601968" y="4306824"/>
            <a:ext cx="146304" cy="50292"/>
          </a:xfrm>
          <a:prstGeom prst="rect">
            <a:avLst/>
          </a:prstGeom>
          <a:solidFill>
            <a:srgbClr val="9A44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12864" y="4187952"/>
            <a:ext cx="47548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 i="0">
                <a:solidFill>
                  <a:srgbClr val="1B2733"/>
                </a:solidFill>
                <a:latin typeface="Calibri"/>
              </a:rPr>
              <a:t>Does not predict job performance. It measures the answer, not the future.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601968" y="5129784"/>
            <a:ext cx="146304" cy="50292"/>
          </a:xfrm>
          <a:prstGeom prst="rect">
            <a:avLst/>
          </a:prstGeom>
          <a:solidFill>
            <a:srgbClr val="9A44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12864" y="5010912"/>
            <a:ext cx="47548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 i="0">
                <a:solidFill>
                  <a:srgbClr val="1B2733"/>
                </a:solidFill>
                <a:latin typeface="Calibri"/>
              </a:rPr>
              <a:t>Not a finished product. One interview at a time. A research prototype.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601968" y="5532120"/>
            <a:ext cx="5074920" cy="658368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22008" y="571500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1B2733"/>
                </a:solidFill>
                <a:latin typeface="Calibri"/>
              </a:rPr>
              <a:t>Every limit here is a decision I can defend.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5836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 spc="150">
                <a:solidFill>
                  <a:srgbClr val="1F4E79"/>
                </a:solidFill>
                <a:latin typeface="Calibri"/>
              </a:rPr>
              <a:t>THE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87552"/>
            <a:ext cx="10874959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1B2733"/>
                </a:solidFill>
                <a:latin typeface="Calibri"/>
              </a:rPr>
              <a:t>How it works, start to finish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682496"/>
            <a:ext cx="1371600" cy="4114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84687" y="638251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5A6B7B"/>
                </a:solidFill>
                <a:latin typeface="Calibri"/>
              </a:rPr>
              <a:t>4</a:t>
            </a:r>
          </a:p>
        </p:txBody>
      </p:sp>
      <p:pic>
        <p:nvPicPr>
          <p:cNvPr id="6" name="Picture 5" descr="fig01_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72881" y="2011680"/>
            <a:ext cx="4045933" cy="3703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5504688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1F4E79"/>
                </a:solidFill>
                <a:latin typeface="Calibri"/>
              </a:rPr>
              <a:t>1. Prepare  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5779008"/>
            <a:ext cx="2490139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 i="0">
                <a:solidFill>
                  <a:srgbClr val="5A6B7B"/>
                </a:solidFill>
                <a:latin typeface="Calibri"/>
              </a:rPr>
              <a:t>read both documents, find the missing skills, write the questions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77107" y="5504688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1E6B4F"/>
                </a:solidFill>
                <a:latin typeface="Calibri"/>
              </a:rPr>
              <a:t>2. Interview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77107" y="5779008"/>
            <a:ext cx="2490139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 i="0">
                <a:solidFill>
                  <a:srgbClr val="5A6B7B"/>
                </a:solidFill>
                <a:latin typeface="Calibri"/>
              </a:rPr>
              <a:t>by voice or by typing — both give the same transcript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5847" y="5504688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9A4415"/>
                </a:solidFill>
                <a:latin typeface="Calibri"/>
              </a:rPr>
              <a:t>3. Mark 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5847" y="5779008"/>
            <a:ext cx="2490139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 i="0">
                <a:solidFill>
                  <a:srgbClr val="5A6B7B"/>
                </a:solidFill>
                <a:latin typeface="Calibri"/>
              </a:rPr>
              <a:t>score every answer twice, check the session looked normal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14587" y="5504688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4C3A8C"/>
                </a:solidFill>
                <a:latin typeface="Calibri"/>
              </a:rPr>
              <a:t>4. Report  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14587" y="5779008"/>
            <a:ext cx="2490139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 i="0">
                <a:solidFill>
                  <a:srgbClr val="5A6B7B"/>
                </a:solidFill>
                <a:latin typeface="Calibri"/>
              </a:rPr>
              <a:t>combine into a recommendation, and show the working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5836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 spc="150">
                <a:solidFill>
                  <a:srgbClr val="1F4E79"/>
                </a:solidFill>
                <a:latin typeface="Calibri"/>
              </a:rPr>
              <a:t>THE MODULES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87552"/>
            <a:ext cx="10874959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1B2733"/>
                </a:solidFill>
                <a:latin typeface="Calibri"/>
              </a:rPr>
              <a:t>Thirteen parts, each with one job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682496"/>
            <a:ext cx="1371600" cy="4114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84687" y="638251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5A6B7B"/>
                </a:solidFill>
                <a:latin typeface="Calibri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029968"/>
            <a:ext cx="82296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1F4E79"/>
                </a:solidFill>
                <a:latin typeface="Calibri"/>
              </a:rPr>
              <a:t>M1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27048" y="2029968"/>
            <a:ext cx="443484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 i="0">
                <a:solidFill>
                  <a:srgbClr val="1B2733"/>
                </a:solidFill>
                <a:latin typeface="Calibri"/>
              </a:rPr>
              <a:t>Reads the CV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578608"/>
            <a:ext cx="82296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1F4E79"/>
                </a:solidFill>
                <a:latin typeface="Calibri"/>
              </a:rPr>
              <a:t>M2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7048" y="2578608"/>
            <a:ext cx="443484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 i="0">
                <a:solidFill>
                  <a:srgbClr val="1B2733"/>
                </a:solidFill>
                <a:latin typeface="Calibri"/>
              </a:rPr>
              <a:t>Reads the job advert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3127248"/>
            <a:ext cx="82296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1F4E79"/>
                </a:solidFill>
                <a:latin typeface="Calibri"/>
              </a:rPr>
              <a:t>M3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27048" y="3127248"/>
            <a:ext cx="443484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 i="0">
                <a:solidFill>
                  <a:srgbClr val="1B2733"/>
                </a:solidFill>
                <a:latin typeface="Calibri"/>
              </a:rPr>
              <a:t>Compares them, finds the missing skills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3675888"/>
            <a:ext cx="82296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1F4E79"/>
                </a:solidFill>
                <a:latin typeface="Calibri"/>
              </a:rPr>
              <a:t>M4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27048" y="3675888"/>
            <a:ext cx="443484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 i="0">
                <a:solidFill>
                  <a:srgbClr val="1B2733"/>
                </a:solidFill>
                <a:latin typeface="Calibri"/>
              </a:rPr>
              <a:t>Writes the questions, gaps first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4224528"/>
            <a:ext cx="82296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1E6B4F"/>
                </a:solidFill>
                <a:latin typeface="Calibri"/>
              </a:rPr>
              <a:t>M5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7048" y="4224528"/>
            <a:ext cx="443484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 i="0">
                <a:solidFill>
                  <a:srgbClr val="1B2733"/>
                </a:solidFill>
                <a:latin typeface="Calibri"/>
              </a:rPr>
              <a:t>Runs the spoken interview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4773168"/>
            <a:ext cx="82296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1E6B4F"/>
                </a:solidFill>
                <a:latin typeface="Calibri"/>
              </a:rPr>
              <a:t>M5t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27048" y="4773168"/>
            <a:ext cx="443484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 i="0">
                <a:solidFill>
                  <a:srgbClr val="1B2733"/>
                </a:solidFill>
                <a:latin typeface="Calibri"/>
              </a:rPr>
              <a:t>Runs the typed interview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5321808"/>
            <a:ext cx="82296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1E6B4F"/>
                </a:solidFill>
                <a:latin typeface="Calibri"/>
              </a:rPr>
              <a:t>M6a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27048" y="5321808"/>
            <a:ext cx="443484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 i="0">
                <a:solidFill>
                  <a:srgbClr val="1B2733"/>
                </a:solidFill>
                <a:latin typeface="Calibri"/>
              </a:rPr>
              <a:t>Tracks how each skill is going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19088" y="2029968"/>
            <a:ext cx="82296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1E6B4F"/>
                </a:solidFill>
                <a:latin typeface="Calibri"/>
              </a:rPr>
              <a:t>M7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87768" y="2029968"/>
            <a:ext cx="443484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 i="0">
                <a:solidFill>
                  <a:srgbClr val="1B2733"/>
                </a:solidFill>
                <a:latin typeface="Calibri"/>
              </a:rPr>
              <a:t>Watches attention (face)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19088" y="2578608"/>
            <a:ext cx="82296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1E6B4F"/>
                </a:solidFill>
                <a:latin typeface="Calibri"/>
              </a:rPr>
              <a:t>M8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87768" y="2578608"/>
            <a:ext cx="443484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 i="0">
                <a:solidFill>
                  <a:srgbClr val="1B2733"/>
                </a:solidFill>
                <a:latin typeface="Calibri"/>
              </a:rPr>
              <a:t>Watches posture (body)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19088" y="3127248"/>
            <a:ext cx="82296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1E6B4F"/>
                </a:solidFill>
                <a:latin typeface="Calibri"/>
              </a:rPr>
              <a:t>M10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87768" y="3127248"/>
            <a:ext cx="443484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 i="0">
                <a:solidFill>
                  <a:srgbClr val="1B2733"/>
                </a:solidFill>
                <a:latin typeface="Calibri"/>
              </a:rPr>
              <a:t>Listens to tone of voice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19088" y="3675888"/>
            <a:ext cx="82296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9A4415"/>
                </a:solidFill>
                <a:latin typeface="Calibri"/>
              </a:rPr>
              <a:t>M6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87768" y="3675888"/>
            <a:ext cx="443484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 i="0">
                <a:solidFill>
                  <a:srgbClr val="1B2733"/>
                </a:solidFill>
                <a:latin typeface="Calibri"/>
              </a:rPr>
              <a:t>Marks each answer, twice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19088" y="4224528"/>
            <a:ext cx="82296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9A4415"/>
                </a:solidFill>
                <a:latin typeface="Calibri"/>
              </a:rPr>
              <a:t>M9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87768" y="4224528"/>
            <a:ext cx="443484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 i="0">
                <a:solidFill>
                  <a:srgbClr val="1B2733"/>
                </a:solidFill>
                <a:latin typeface="Calibri"/>
              </a:rPr>
              <a:t>Checks for cheating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19088" y="4773168"/>
            <a:ext cx="82296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4C3A8C"/>
                </a:solidFill>
                <a:latin typeface="Calibri"/>
              </a:rPr>
              <a:t>M11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87768" y="4773168"/>
            <a:ext cx="443484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 i="0">
                <a:solidFill>
                  <a:srgbClr val="1B2733"/>
                </a:solidFill>
                <a:latin typeface="Calibri"/>
              </a:rPr>
              <a:t>Adds everything up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19088" y="5321808"/>
            <a:ext cx="82296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4C3A8C"/>
                </a:solidFill>
                <a:latin typeface="Calibri"/>
              </a:rPr>
              <a:t>M12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87768" y="5321808"/>
            <a:ext cx="443484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 i="0">
                <a:solidFill>
                  <a:srgbClr val="1B2733"/>
                </a:solidFill>
                <a:latin typeface="Calibri"/>
              </a:rPr>
              <a:t>Writes the final report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8368" y="5532120"/>
            <a:ext cx="10874959" cy="68580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42416" y="5724144"/>
            <a:ext cx="10106863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1B2733"/>
                </a:solidFill>
                <a:latin typeface="Calibri"/>
              </a:rPr>
              <a:t>M5 and M5t are the same interview with a different way of answering — which is why it is thirteen parts, not fourteen.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5836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 spc="150">
                <a:solidFill>
                  <a:srgbClr val="1F4E79"/>
                </a:solidFill>
                <a:latin typeface="Calibri"/>
              </a:rPr>
              <a:t>TECHNOLOGY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87552"/>
            <a:ext cx="10874959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1B2733"/>
                </a:solidFill>
                <a:latin typeface="Calibri"/>
              </a:rPr>
              <a:t>What it is built with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682496"/>
            <a:ext cx="1371600" cy="4114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84687" y="638251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5A6B7B"/>
                </a:solidFill>
                <a:latin typeface="Calibri"/>
              </a:rPr>
              <a:t>6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2139696"/>
            <a:ext cx="146304" cy="5029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9264" y="2011680"/>
            <a:ext cx="512064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1B2733"/>
                </a:solidFill>
                <a:latin typeface="Calibri"/>
              </a:rPr>
              <a:t>Reading, writing questions, marking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2011680"/>
            <a:ext cx="5681167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1F4E79"/>
                </a:solidFill>
                <a:latin typeface="Calibri"/>
              </a:rPr>
              <a:t>Google Gemini 3.6 Flash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523744"/>
            <a:ext cx="146304" cy="5029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2395728"/>
            <a:ext cx="512064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1B2733"/>
                </a:solidFill>
                <a:latin typeface="Calibri"/>
              </a:rPr>
              <a:t>Matching skills to a real standard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2395728"/>
            <a:ext cx="5681167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1F4E79"/>
                </a:solidFill>
                <a:latin typeface="Calibri"/>
              </a:rPr>
              <a:t>ESCO (EU skills list) + NetworkX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2907792"/>
            <a:ext cx="146304" cy="50292"/>
          </a:xfrm>
          <a:prstGeom prst="rect">
            <a:avLst/>
          </a:prstGeom>
          <a:solidFill>
            <a:srgbClr val="1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9264" y="2779776"/>
            <a:ext cx="512064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1B2733"/>
                </a:solidFill>
                <a:latin typeface="Calibri"/>
              </a:rPr>
              <a:t>Carrying the voice call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27648" y="2779776"/>
            <a:ext cx="5681167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1E6B4F"/>
                </a:solidFill>
                <a:latin typeface="Calibri"/>
              </a:rPr>
              <a:t>LiveKit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3291840"/>
            <a:ext cx="146304" cy="50292"/>
          </a:xfrm>
          <a:prstGeom prst="rect">
            <a:avLst/>
          </a:prstGeom>
          <a:solidFill>
            <a:srgbClr val="1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9264" y="3163824"/>
            <a:ext cx="512064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1B2733"/>
                </a:solidFill>
                <a:latin typeface="Calibri"/>
              </a:rPr>
              <a:t>Turning speech into text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3163824"/>
            <a:ext cx="5681167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1E6B4F"/>
                </a:solidFill>
                <a:latin typeface="Calibri"/>
              </a:rPr>
              <a:t>Deepgram Nova-3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675888"/>
            <a:ext cx="146304" cy="50292"/>
          </a:xfrm>
          <a:prstGeom prst="rect">
            <a:avLst/>
          </a:prstGeom>
          <a:solidFill>
            <a:srgbClr val="1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9264" y="3547872"/>
            <a:ext cx="512064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1B2733"/>
                </a:solidFill>
                <a:latin typeface="Calibri"/>
              </a:rPr>
              <a:t>The interviewer's voice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27648" y="3547872"/>
            <a:ext cx="5681167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1E6B4F"/>
                </a:solidFill>
                <a:latin typeface="Calibri"/>
              </a:rPr>
              <a:t>ElevenLabs (Deepgram as backup)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4059936"/>
            <a:ext cx="146304" cy="50292"/>
          </a:xfrm>
          <a:prstGeom prst="rect">
            <a:avLst/>
          </a:prstGeom>
          <a:solidFill>
            <a:srgbClr val="1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9264" y="3931920"/>
            <a:ext cx="512064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1B2733"/>
                </a:solidFill>
                <a:latin typeface="Calibri"/>
              </a:rPr>
              <a:t>Attention and posture, in the browser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27648" y="3931920"/>
            <a:ext cx="5681167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1E6B4F"/>
                </a:solidFill>
                <a:latin typeface="Calibri"/>
              </a:rPr>
              <a:t>Google MediaPipe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8368" y="4443984"/>
            <a:ext cx="146304" cy="50292"/>
          </a:xfrm>
          <a:prstGeom prst="rect">
            <a:avLst/>
          </a:prstGeom>
          <a:solidFill>
            <a:srgbClr val="1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9264" y="4315968"/>
            <a:ext cx="512064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1B2733"/>
                </a:solidFill>
                <a:latin typeface="Calibri"/>
              </a:rPr>
              <a:t>Tone of voice, in the browser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27648" y="4315968"/>
            <a:ext cx="5681167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1E6B4F"/>
                </a:solidFill>
                <a:latin typeface="Calibri"/>
              </a:rPr>
              <a:t>Web Audio API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4828032"/>
            <a:ext cx="146304" cy="50292"/>
          </a:xfrm>
          <a:prstGeom prst="rect">
            <a:avLst/>
          </a:prstGeom>
          <a:solidFill>
            <a:srgbClr val="9A44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9264" y="4700016"/>
            <a:ext cx="512064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1B2733"/>
                </a:solidFill>
                <a:latin typeface="Calibri"/>
              </a:rPr>
              <a:t>Spotting unusual behaviour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27648" y="4700016"/>
            <a:ext cx="5681167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9A4415"/>
                </a:solidFill>
                <a:latin typeface="Calibri"/>
              </a:rPr>
              <a:t>scikit-learn, trains itself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5212080"/>
            <a:ext cx="146304" cy="50292"/>
          </a:xfrm>
          <a:prstGeom prst="rect">
            <a:avLst/>
          </a:prstGeom>
          <a:solidFill>
            <a:srgbClr val="4C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69264" y="5084064"/>
            <a:ext cx="512064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1B2733"/>
                </a:solidFill>
                <a:latin typeface="Calibri"/>
              </a:rPr>
              <a:t>The app itself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27648" y="5084064"/>
            <a:ext cx="5681167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4C3A8C"/>
                </a:solidFill>
                <a:latin typeface="Calibri"/>
              </a:rPr>
              <a:t>Python + FastAPI, React front end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5596128"/>
            <a:ext cx="146304" cy="50292"/>
          </a:xfrm>
          <a:prstGeom prst="rect">
            <a:avLst/>
          </a:prstGeom>
          <a:solidFill>
            <a:srgbClr val="4C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69264" y="5468112"/>
            <a:ext cx="512064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1B2733"/>
                </a:solidFill>
                <a:latin typeface="Calibri"/>
              </a:rPr>
              <a:t>Checking it still works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27648" y="5468112"/>
            <a:ext cx="5681167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4C3A8C"/>
                </a:solidFill>
                <a:latin typeface="Calibri"/>
              </a:rPr>
              <a:t>72 automated tests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58368" y="5925312"/>
            <a:ext cx="10874959" cy="658368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42416" y="6108192"/>
            <a:ext cx="10106863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1B2733"/>
                </a:solidFill>
                <a:latin typeface="Calibri"/>
              </a:rPr>
              <a:t>The camera and microphone work happens on the candidate's own computer. Only the resulting numbers are sent.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5836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 spc="150">
                <a:solidFill>
                  <a:srgbClr val="B4530F"/>
                </a:solidFill>
                <a:latin typeface="Calibri"/>
              </a:rPr>
              <a:t>WHAT MAKES THIS RESEARCH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87552"/>
            <a:ext cx="10874959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1B2733"/>
                </a:solidFill>
                <a:latin typeface="Calibri"/>
              </a:rPr>
              <a:t>The main idea: mark it twice, and keep the disagreement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682496"/>
            <a:ext cx="1371600" cy="41148"/>
          </a:xfrm>
          <a:prstGeom prst="rect">
            <a:avLst/>
          </a:prstGeom>
          <a:solidFill>
            <a:srgbClr val="B453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84687" y="638251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5A6B7B"/>
                </a:solidFill>
                <a:latin typeface="Calibri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103120"/>
            <a:ext cx="108749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1B2733"/>
                </a:solidFill>
                <a:latin typeface="Calibri"/>
              </a:rPr>
              <a:t>Every answer is marked twice, with the marking criteria shown in a different order each time.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3081528"/>
            <a:ext cx="182880" cy="54864"/>
          </a:xfrm>
          <a:prstGeom prst="rect">
            <a:avLst/>
          </a:prstGeom>
          <a:solidFill>
            <a:srgbClr val="5A6B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2416" y="292608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5A6B7B"/>
                </a:solidFill>
                <a:latin typeface="Calibri"/>
              </a:rPr>
              <a:t>The average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38728" y="2926080"/>
            <a:ext cx="7857439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1B2733"/>
                </a:solidFill>
                <a:latin typeface="Calibri"/>
              </a:rPr>
              <a:t>cancels out the effect of the order.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4041648"/>
            <a:ext cx="182880" cy="54864"/>
          </a:xfrm>
          <a:prstGeom prst="rect">
            <a:avLst/>
          </a:prstGeom>
          <a:solidFill>
            <a:srgbClr val="B453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2416" y="388620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B4530F"/>
                </a:solidFill>
                <a:latin typeface="Calibri"/>
              </a:rPr>
              <a:t>The gap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38728" y="3886200"/>
            <a:ext cx="7857439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1B2733"/>
                </a:solidFill>
                <a:latin typeface="Calibri"/>
              </a:rPr>
              <a:t>is the useful part. 82 then 81 means it is sure. 71 then 45 means it is not — and the average of 58 hides that.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5001768"/>
            <a:ext cx="182880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2416" y="484632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1F4E79"/>
                </a:solidFill>
                <a:latin typeface="Calibri"/>
              </a:rPr>
              <a:t>What happens next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38728" y="4846320"/>
            <a:ext cx="7857439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1B2733"/>
                </a:solidFill>
                <a:latin typeface="Calibri"/>
              </a:rPr>
              <a:t>a big gap sends that answer to a human, instead of reporting a confident score.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5349240"/>
            <a:ext cx="10874959" cy="82296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9848" y="5577840"/>
            <a:ext cx="1005199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1B2733"/>
                </a:solidFill>
                <a:latin typeface="Calibri"/>
              </a:rPr>
              <a:t>I am not claiming the AI is unbiased. I am claiming that when it is unsure, the system says so.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5836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 spc="150">
                <a:solidFill>
                  <a:srgbClr val="9A4415"/>
                </a:solidFill>
                <a:latin typeface="Calibri"/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87552"/>
            <a:ext cx="10874959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1B2733"/>
                </a:solidFill>
                <a:latin typeface="Calibri"/>
              </a:rPr>
              <a:t>What I found when I tested it — two faults in my own system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682496"/>
            <a:ext cx="1371600" cy="41148"/>
          </a:xfrm>
          <a:prstGeom prst="rect">
            <a:avLst/>
          </a:prstGeom>
          <a:solidFill>
            <a:srgbClr val="9A44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84687" y="638251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5A6B7B"/>
                </a:solidFill>
                <a:latin typeface="Calibri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993392"/>
            <a:ext cx="2514600" cy="128016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2194560"/>
            <a:ext cx="25146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600" b="1" i="0">
                <a:solidFill>
                  <a:srgbClr val="1E6B4F"/>
                </a:solidFill>
                <a:latin typeface="Calibri"/>
              </a:rPr>
              <a:t>0.92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834640"/>
            <a:ext cx="222199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 i="0">
                <a:solidFill>
                  <a:srgbClr val="5A6B7B"/>
                </a:solidFill>
                <a:latin typeface="Calibri"/>
              </a:rPr>
              <a:t>how well it ranks answers</a:t>
            </a:r>
          </a:p>
          <a:p>
            <a:pPr algn="ctr">
              <a:lnSpc>
                <a:spcPct val="115000"/>
              </a:lnSpc>
            </a:pPr>
            <a:r>
              <a:rPr sz="1300" b="0" i="0">
                <a:solidFill>
                  <a:srgbClr val="5A6B7B"/>
                </a:solidFill>
                <a:latin typeface="Calibri"/>
              </a:rPr>
              <a:t>(1.0 would be perfect)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01568" y="1993392"/>
            <a:ext cx="2514600" cy="128016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01568" y="2194560"/>
            <a:ext cx="25146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600" b="1" i="0">
                <a:solidFill>
                  <a:srgbClr val="9A4415"/>
                </a:solidFill>
                <a:latin typeface="Calibri"/>
              </a:rPr>
              <a:t>92.8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47872" y="2834640"/>
            <a:ext cx="222199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 i="0">
                <a:solidFill>
                  <a:srgbClr val="5A6B7B"/>
                </a:solidFill>
                <a:latin typeface="Calibri"/>
              </a:rPr>
              <a:t>what deliberately average</a:t>
            </a:r>
          </a:p>
          <a:p>
            <a:pPr algn="ctr">
              <a:lnSpc>
                <a:spcPct val="115000"/>
              </a:lnSpc>
            </a:pPr>
            <a:r>
              <a:rPr sz="1300" b="0" i="0">
                <a:solidFill>
                  <a:srgbClr val="5A6B7B"/>
                </a:solidFill>
                <a:latin typeface="Calibri"/>
              </a:rPr>
              <a:t>answers scored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44768" y="1993392"/>
            <a:ext cx="2514600" cy="128016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44768" y="2194560"/>
            <a:ext cx="25146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600" b="1" i="0">
                <a:solidFill>
                  <a:srgbClr val="9A4415"/>
                </a:solidFill>
                <a:latin typeface="Calibri"/>
              </a:rPr>
              <a:t>0.85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91072" y="2834640"/>
            <a:ext cx="222199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 i="0">
                <a:solidFill>
                  <a:srgbClr val="5A6B7B"/>
                </a:solidFill>
                <a:latin typeface="Calibri"/>
              </a:rPr>
              <a:t>how closely the four marking</a:t>
            </a:r>
          </a:p>
          <a:p>
            <a:pPr algn="ctr">
              <a:lnSpc>
                <a:spcPct val="115000"/>
              </a:lnSpc>
            </a:pPr>
            <a:r>
              <a:rPr sz="1300" b="0" i="0">
                <a:solidFill>
                  <a:srgbClr val="5A6B7B"/>
                </a:solidFill>
                <a:latin typeface="Calibri"/>
              </a:rPr>
              <a:t>criteria move together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887968" y="1993392"/>
            <a:ext cx="2606040" cy="128016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87968" y="2194560"/>
            <a:ext cx="26060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600" b="1" i="0">
                <a:solidFill>
                  <a:srgbClr val="1F4E79"/>
                </a:solidFill>
                <a:latin typeface="Calibri"/>
              </a:rPr>
              <a:t>2.2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34272" y="2834640"/>
            <a:ext cx="231343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 i="0">
                <a:solidFill>
                  <a:srgbClr val="5A6B7B"/>
                </a:solidFill>
                <a:latin typeface="Calibri"/>
              </a:rPr>
              <a:t>average gap between</a:t>
            </a:r>
          </a:p>
          <a:p>
            <a:pPr algn="ctr">
              <a:lnSpc>
                <a:spcPct val="115000"/>
              </a:lnSpc>
            </a:pPr>
            <a:r>
              <a:rPr sz="1300" b="0" i="0">
                <a:solidFill>
                  <a:srgbClr val="5A6B7B"/>
                </a:solidFill>
                <a:latin typeface="Calibri"/>
              </a:rPr>
              <a:t>the two markings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666744"/>
            <a:ext cx="164592" cy="54864"/>
          </a:xfrm>
          <a:prstGeom prst="rect">
            <a:avLst/>
          </a:prstGeom>
          <a:solidFill>
            <a:srgbClr val="1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24128" y="3529584"/>
            <a:ext cx="10417759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0" i="0">
                <a:solidFill>
                  <a:srgbClr val="1B2733"/>
                </a:solidFill>
                <a:latin typeface="Calibri"/>
              </a:rPr>
              <a:t>It ranks well.  It almost never puts a worse answer above a better one.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4453128"/>
            <a:ext cx="164592" cy="54864"/>
          </a:xfrm>
          <a:prstGeom prst="rect">
            <a:avLst/>
          </a:prstGeom>
          <a:solidFill>
            <a:srgbClr val="9A44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4128" y="4315968"/>
            <a:ext cx="10417759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0" i="0">
                <a:solidFill>
                  <a:srgbClr val="1B2733"/>
                </a:solidFill>
                <a:latin typeface="Calibri"/>
              </a:rPr>
              <a:t>Fault 1 — it is too generous.  The pass mark for a “strong” answer is 70. Deliberately average answers scored 92.8 — so average and excellent get the same verdict.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5239512"/>
            <a:ext cx="164592" cy="54864"/>
          </a:xfrm>
          <a:prstGeom prst="rect">
            <a:avLst/>
          </a:prstGeom>
          <a:solidFill>
            <a:srgbClr val="9A44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4128" y="5102352"/>
            <a:ext cx="10417759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0" i="0">
                <a:solidFill>
                  <a:srgbClr val="1B2733"/>
                </a:solidFill>
                <a:latin typeface="Calibri"/>
              </a:rPr>
              <a:t>Fault 2 — the four criteria are not separate.  It forms one impression and spreads it across all four, so the breakdown explains less than I had claimed.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8368" y="5623560"/>
            <a:ext cx="10874959" cy="658368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42416" y="5806440"/>
            <a:ext cx="10106863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1B2733"/>
                </a:solidFill>
                <a:latin typeface="Calibri"/>
              </a:rPr>
              <a:t>Both faults are in my own system, and my own testing found them. That is the argument for building it this way.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5836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 spc="150">
                <a:solidFill>
                  <a:srgbClr val="4C3A8C"/>
                </a:solidFill>
                <a:latin typeface="Calibri"/>
              </a:rPr>
              <a:t>LOOKING BACK HONESTLY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87552"/>
            <a:ext cx="10874959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1B2733"/>
                </a:solidFill>
                <a:latin typeface="Calibri"/>
              </a:rPr>
              <a:t>What I changed, and what this project cannot claim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682496"/>
            <a:ext cx="1371600" cy="41148"/>
          </a:xfrm>
          <a:prstGeom prst="rect">
            <a:avLst/>
          </a:prstGeom>
          <a:solidFill>
            <a:srgbClr val="4C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84687" y="638251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5A6B7B"/>
                </a:solidFill>
                <a:latin typeface="Calibri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993392"/>
            <a:ext cx="530352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4C3A8C"/>
                </a:solidFill>
                <a:latin typeface="Calibri"/>
              </a:rPr>
              <a:t>What I changed, and why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93408" y="1993392"/>
            <a:ext cx="50292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9A4415"/>
                </a:solidFill>
                <a:latin typeface="Calibri"/>
              </a:rPr>
              <a:t>What it cannot claim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596896"/>
            <a:ext cx="146304" cy="50292"/>
          </a:xfrm>
          <a:prstGeom prst="rect">
            <a:avLst/>
          </a:prstGeom>
          <a:solidFill>
            <a:srgbClr val="4C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9264" y="2468880"/>
            <a:ext cx="52120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500" b="0" i="0">
                <a:solidFill>
                  <a:srgbClr val="1B2733"/>
                </a:solidFill>
                <a:latin typeface="Calibri"/>
              </a:rPr>
              <a:t>Removed the second marker. Its training answers came from the same AI it was meant to check, so agreement proved nothing. A test showed it was really measuring length.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3529584"/>
            <a:ext cx="146304" cy="50292"/>
          </a:xfrm>
          <a:prstGeom prst="rect">
            <a:avLst/>
          </a:prstGeom>
          <a:solidFill>
            <a:srgbClr val="4C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9264" y="3401568"/>
            <a:ext cx="52120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500" b="0" i="0">
                <a:solidFill>
                  <a:srgbClr val="1B2733"/>
                </a:solidFill>
                <a:latin typeface="Calibri"/>
              </a:rPr>
              <a:t>Replaced the emotion detector. Now measures how someone speaks — loudness, steadiness, pauses. Every part can be inspected; an emotion label cannot.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4462272"/>
            <a:ext cx="146304" cy="50292"/>
          </a:xfrm>
          <a:prstGeom prst="rect">
            <a:avLst/>
          </a:prstGeom>
          <a:solidFill>
            <a:srgbClr val="4C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9264" y="4334256"/>
            <a:ext cx="52120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500" b="0" i="0">
                <a:solidFill>
                  <a:srgbClr val="1B2733"/>
                </a:solidFill>
                <a:latin typeface="Calibri"/>
              </a:rPr>
              <a:t>Added the double marking. Not in the proposal at all. It became the main contribution.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693408" y="2596896"/>
            <a:ext cx="146304" cy="50292"/>
          </a:xfrm>
          <a:prstGeom prst="rect">
            <a:avLst/>
          </a:prstGeom>
          <a:solidFill>
            <a:srgbClr val="9A44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04304" y="2468880"/>
            <a:ext cx="46634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500" b="0" i="0">
                <a:solidFill>
                  <a:srgbClr val="1B2733"/>
                </a:solidFill>
                <a:latin typeface="Calibri"/>
              </a:rPr>
              <a:t>18 answers, and written not spoken. A small test set.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93408" y="3291840"/>
            <a:ext cx="146304" cy="50292"/>
          </a:xfrm>
          <a:prstGeom prst="rect">
            <a:avLst/>
          </a:prstGeom>
          <a:solidFill>
            <a:srgbClr val="9A44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04304" y="3163824"/>
            <a:ext cx="46634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500" b="0" i="0">
                <a:solidFill>
                  <a:srgbClr val="1B2733"/>
                </a:solidFill>
                <a:latin typeface="Calibri"/>
              </a:rPr>
              <a:t>No human markers to compare against. So no outside check.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93408" y="3986784"/>
            <a:ext cx="146304" cy="50292"/>
          </a:xfrm>
          <a:prstGeom prst="rect">
            <a:avLst/>
          </a:prstGeom>
          <a:solidFill>
            <a:srgbClr val="9A44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04304" y="3858768"/>
            <a:ext cx="46634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500" b="0" i="0">
                <a:solidFill>
                  <a:srgbClr val="1B2733"/>
                </a:solidFill>
                <a:latin typeface="Calibri"/>
              </a:rPr>
              <a:t>No bias testing across groups. It needs the personal data I chose not to collect.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93408" y="4681728"/>
            <a:ext cx="146304" cy="50292"/>
          </a:xfrm>
          <a:prstGeom prst="rect">
            <a:avLst/>
          </a:prstGeom>
          <a:solidFill>
            <a:srgbClr val="9A44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04304" y="4553712"/>
            <a:ext cx="46634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500" b="0" i="0">
                <a:solidFill>
                  <a:srgbClr val="1B2733"/>
                </a:solidFill>
                <a:latin typeface="Calibri"/>
              </a:rPr>
              <a:t>One interview at a time. A prototype, not a product.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5669280"/>
            <a:ext cx="10874959" cy="621792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42416" y="5833872"/>
            <a:ext cx="10106863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1B2733"/>
                </a:solidFill>
                <a:latin typeface="Calibri"/>
              </a:rPr>
              <a:t>Every one of these changes came from a measurement that proved me wrong about something.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5836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 spc="150">
                <a:solidFill>
                  <a:srgbClr val="1E6B4F"/>
                </a:solidFill>
                <a:latin typeface="Calibri"/>
              </a:rPr>
              <a:t>IN CLOSING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87552"/>
            <a:ext cx="10874959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1B2733"/>
                </a:solidFill>
                <a:latin typeface="Calibri"/>
              </a:rPr>
              <a:t>What this project contributes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682496"/>
            <a:ext cx="1371600" cy="41148"/>
          </a:xfrm>
          <a:prstGeom prst="rect">
            <a:avLst/>
          </a:prstGeom>
          <a:solidFill>
            <a:srgbClr val="1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84687" y="638251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5A6B7B"/>
                </a:solidFill>
                <a:latin typeface="Calibri"/>
              </a:rPr>
              <a:t>10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2194560"/>
            <a:ext cx="164592" cy="54864"/>
          </a:xfrm>
          <a:prstGeom prst="rect">
            <a:avLst/>
          </a:prstGeom>
          <a:solidFill>
            <a:srgbClr val="1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2057400"/>
            <a:ext cx="10417759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 i="0">
                <a:solidFill>
                  <a:srgbClr val="1B2733"/>
                </a:solidFill>
                <a:latin typeface="Calibri"/>
              </a:rPr>
              <a:t>A working platform  that aims its questions using a published skills standard, interviews by voice or typing, and shows its working.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999232"/>
            <a:ext cx="164592" cy="54864"/>
          </a:xfrm>
          <a:prstGeom prst="rect">
            <a:avLst/>
          </a:prstGeom>
          <a:solidFill>
            <a:srgbClr val="1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4128" y="2862072"/>
            <a:ext cx="10417759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 i="0">
                <a:solidFill>
                  <a:srgbClr val="1B2733"/>
                </a:solidFill>
                <a:latin typeface="Calibri"/>
              </a:rPr>
              <a:t>A clear measurement  of how an AI marker behaves in practice — it can rank answers well and still mark them far too generously.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3803904"/>
            <a:ext cx="164592" cy="54864"/>
          </a:xfrm>
          <a:prstGeom prst="rect">
            <a:avLst/>
          </a:prstGeom>
          <a:solidFill>
            <a:srgbClr val="1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4128" y="3666744"/>
            <a:ext cx="10417759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 i="0">
                <a:solidFill>
                  <a:srgbClr val="1B2733"/>
                </a:solidFill>
                <a:latin typeface="Calibri"/>
              </a:rPr>
              <a:t>A documented negative result  checking an AI against a model trained on that same AI's answers proves nothing, and here is the evidence.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4608576"/>
            <a:ext cx="164592" cy="54864"/>
          </a:xfrm>
          <a:prstGeom prst="rect">
            <a:avLst/>
          </a:prstGeom>
          <a:solidFill>
            <a:srgbClr val="1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4128" y="4471416"/>
            <a:ext cx="10417759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 i="0">
                <a:solidFill>
                  <a:srgbClr val="1B2733"/>
                </a:solidFill>
                <a:latin typeface="Calibri"/>
              </a:rPr>
              <a:t>A test setup anyone can rerun  included in the submission, so every number here can be produced again.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892040"/>
            <a:ext cx="10874959" cy="132588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69848" y="5102352"/>
            <a:ext cx="1005199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1B2733"/>
                </a:solidFill>
                <a:latin typeface="Calibri"/>
              </a:rPr>
              <a:t>My own testing found two real faults in my own system.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9848" y="5532120"/>
            <a:ext cx="1005199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5A6B7B"/>
                </a:solidFill>
                <a:latin typeface="Calibri"/>
              </a:rPr>
              <a:t>Something built to be examined can be shown to be wrong, and then fixed. That is worth more than a</a:t>
            </a:r>
          </a:p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5A6B7B"/>
                </a:solidFill>
                <a:latin typeface="Calibri"/>
              </a:rPr>
              <a:t>better-looking score from something nobody can see inside.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 Explainable Multi-Agent AI Interview Platform</dc:title>
  <dc:subject/>
  <dc:creator>Abdul Wahab</dc:creator>
  <cp:keywords/>
  <dc:description>generated using python-pptx</dc:description>
  <cp:lastModifiedBy>Abdul Wahab</cp:lastModifiedBy>
  <cp:revision>1</cp:revision>
  <dcterms:created xsi:type="dcterms:W3CDTF">2013-01-27T09:14:16Z</dcterms:created>
  <dcterms:modified xsi:type="dcterms:W3CDTF">2013-01-27T09:15:58Z</dcterms:modified>
  <cp:category/>
</cp:coreProperties>
</file>